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index</c:v>
                </c:pt>
              </c:strCache>
            </c:strRef>
          </c:tx>
          <c:spPr>
            <a:solidFill>
              <a:srgbClr val="00B9A7"/>
            </a:solidFill>
          </c:spPr>
          <c:cat>
            <c:strRef>
              <c:f>Sheet1!$A$2:$A$5</c:f>
              <c:strCache>
                <c:ptCount val="4"/>
                <c:pt idx="0">
                  <c:v>Prompt</c:v>
                </c:pt>
                <c:pt idx="1">
                  <c:v>Context</c:v>
                </c:pt>
                <c:pt idx="2">
                  <c:v>Harness</c:v>
                </c:pt>
                <c:pt idx="3">
                  <c:v>Agent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index</c:v>
                </c:pt>
              </c:strCache>
            </c:strRef>
          </c:tx>
          <c:spPr>
            <a:solidFill>
              <a:srgbClr val="00B9A7"/>
            </a:solidFill>
          </c:spPr>
          <c:cat>
            <c:strRef>
              <c:f>Sheet1!$A$2:$A$6</c:f>
              <c:strCache>
                <c:ptCount val="5"/>
                <c:pt idx="0">
                  <c:v>Read</c:v>
                </c:pt>
                <c:pt idx="1">
                  <c:v>Analyse</c:v>
                </c:pt>
                <c:pt idx="2">
                  <c:v>Draft</c:v>
                </c:pt>
                <c:pt idx="3">
                  <c:v>Send</c:v>
                </c:pt>
                <c:pt idx="4">
                  <c:v>Spend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85</c:v>
                </c:pt>
                <c:pt idx="2">
                  <c:v>70</c:v>
                </c:pt>
                <c:pt idx="3">
                  <c:v>35</c:v>
                </c:pt>
                <c:pt idx="4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Blueprints using surface</c:v>
                </c:pt>
              </c:strCache>
            </c:strRef>
          </c:tx>
          <c:spPr>
            <a:solidFill>
              <a:srgbClr val="00B9A7"/>
            </a:solidFill>
          </c:spPr>
          <c:cat>
            <c:strRef>
              <c:f>Sheet1!$A$2:$A$5</c:f>
              <c:strCache>
                <c:ptCount val="4"/>
                <c:pt idx="0">
                  <c:v>Files</c:v>
                </c:pt>
                <c:pt idx="1">
                  <c:v>Web</c:v>
                </c:pt>
                <c:pt idx="2">
                  <c:v>Delegation</c:v>
                </c:pt>
                <c:pt idx="3">
                  <c:v>Memory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index</c:v>
                </c:pt>
              </c:strCache>
            </c:strRef>
          </c:tx>
          <c:spPr>
            <a:solidFill>
              <a:srgbClr val="00B9A7"/>
            </a:solidFill>
          </c:spPr>
          <c:cat>
            <c:strRef>
              <c:f>Sheet1!$A$2:$A$6</c:f>
              <c:strCache>
                <c:ptCount val="5"/>
                <c:pt idx="0">
                  <c:v>Support</c:v>
                </c:pt>
                <c:pt idx="1">
                  <c:v>Sales</c:v>
                </c:pt>
                <c:pt idx="2">
                  <c:v>Ops</c:v>
                </c:pt>
                <c:pt idx="3">
                  <c:v>Finance</c:v>
                </c:pt>
                <c:pt idx="4">
                  <c:v>Media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62</c:v>
                </c:pt>
                <c:pt idx="2">
                  <c:v>84</c:v>
                </c:pt>
                <c:pt idx="3">
                  <c:v>55</c:v>
                </c:pt>
                <c:pt idx="4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index</c:v>
                </c:pt>
              </c:strCache>
            </c:strRef>
          </c:tx>
          <c:spPr>
            <a:solidFill>
              <a:srgbClr val="00B9A7"/>
            </a:solidFill>
          </c:spPr>
          <c:cat>
            <c:strRef>
              <c:f>Sheet1!$A$2:$A$6</c:f>
              <c:strCache>
                <c:ptCount val="5"/>
                <c:pt idx="0">
                  <c:v>Gross benefit</c:v>
                </c:pt>
                <c:pt idx="1">
                  <c:v>Review cost</c:v>
                </c:pt>
                <c:pt idx="2">
                  <c:v>Failure loss</c:v>
                </c:pt>
                <c:pt idx="3">
                  <c:v>Run cost</c:v>
                </c:pt>
                <c:pt idx="4">
                  <c:v>Net value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18</c:v>
                </c:pt>
                <c:pt idx="2">
                  <c:v>14</c:v>
                </c:pt>
                <c:pt idx="3">
                  <c:v>12</c:v>
                </c:pt>
                <c:pt idx="4">
                  <c:v>56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index</c:v>
                </c:pt>
              </c:strCache>
            </c:strRef>
          </c:tx>
          <c:spPr>
            <a:solidFill>
              <a:srgbClr val="00B9A7"/>
            </a:solidFill>
          </c:spPr>
          <c:cat>
            <c:strRef>
              <c:f>Sheet1!$A$2:$A$6</c:f>
              <c:strCache>
                <c:ptCount val="5"/>
                <c:pt idx="0">
                  <c:v>Rules</c:v>
                </c:pt>
                <c:pt idx="1">
                  <c:v>Skills</c:v>
                </c:pt>
                <c:pt idx="2">
                  <c:v>Tools</c:v>
                </c:pt>
                <c:pt idx="3">
                  <c:v>Memory</c:v>
                </c:pt>
                <c:pt idx="4">
                  <c:v>Task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30</c:v>
                </c:pt>
                <c:pt idx="3">
                  <c:v>12</c:v>
                </c:pt>
                <c:pt idx="4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index</c:v>
                </c:pt>
              </c:strCache>
            </c:strRef>
          </c:tx>
          <c:spPr>
            <a:solidFill>
              <a:srgbClr val="00B9A7"/>
            </a:solidFill>
          </c:spPr>
          <c:cat>
            <c:strRef>
              <c:f>Sheet1!$A$2:$A$6</c:f>
              <c:strCache>
                <c:ptCount val="5"/>
                <c:pt idx="0">
                  <c:v>Evidence</c:v>
                </c:pt>
                <c:pt idx="1">
                  <c:v>Relevance</c:v>
                </c:pt>
                <c:pt idx="2">
                  <c:v>Clarity</c:v>
                </c:pt>
                <c:pt idx="3">
                  <c:v>Brand</c:v>
                </c:pt>
                <c:pt idx="4">
                  <c:v>Risk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82</c:v>
                </c:pt>
                <c:pt idx="2">
                  <c:v>76</c:v>
                </c:pt>
                <c:pt idx="3">
                  <c:v>84</c:v>
                </c:pt>
                <c:pt idx="4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index</c:v>
                </c:pt>
              </c:strCache>
            </c:strRef>
          </c:tx>
          <c:spPr>
            <a:solidFill>
              <a:srgbClr val="00B9A7"/>
            </a:solidFill>
          </c:spPr>
          <c:cat>
            <c:strRef>
              <c:f>Sheet1!$A$2:$A$5</c:f>
              <c:strCache>
                <c:ptCount val="4"/>
                <c:pt idx="0">
                  <c:v>1 agent</c:v>
                </c:pt>
                <c:pt idx="1">
                  <c:v>3 agents</c:v>
                </c:pt>
                <c:pt idx="2">
                  <c:v>5 agents</c:v>
                </c:pt>
                <c:pt idx="3">
                  <c:v>7 agents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30</c:v>
                </c:pt>
                <c:pt idx="2">
                  <c:v>55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index</c:v>
                </c:pt>
              </c:strCache>
            </c:strRef>
          </c:tx>
          <c:spPr>
            <a:solidFill>
              <a:srgbClr val="00B9A7"/>
            </a:solidFill>
          </c:spPr>
          <c:cat>
            <c:strRef>
              <c:f>Sheet1!$A$2:$A$6</c:f>
              <c:strCache>
                <c:ptCount val="5"/>
                <c:pt idx="0">
                  <c:v>No controls</c:v>
                </c:pt>
                <c:pt idx="1">
                  <c:v>Identity</c:v>
                </c:pt>
                <c:pt idx="2">
                  <c:v>Least privilege</c:v>
                </c:pt>
                <c:pt idx="3">
                  <c:v>Approval</c:v>
                </c:pt>
                <c:pt idx="4">
                  <c:v>Monitoring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72</c:v>
                </c:pt>
                <c:pt idx="2">
                  <c:v>48</c:v>
                </c:pt>
                <c:pt idx="3">
                  <c:v>28</c:v>
                </c:pt>
                <c:pt idx="4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0503395-Business-Innovation-with-AI-Agent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353312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 i="0">
                <a:solidFill>
                  <a:srgbClr val="00B9A7"/>
                </a:solidFill>
                <a:latin typeface="Aptos"/>
              </a:rPr>
              <a:t>WSQ · BUSINESS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9834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700" b="1" i="0">
                <a:solidFill>
                  <a:srgbClr val="0D202D"/>
                </a:solidFill>
                <a:latin typeface="Aptos"/>
              </a:rPr>
              <a:t>Business Innovation with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429000"/>
            <a:ext cx="475488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8A6EFF"/>
                </a:solidFill>
                <a:latin typeface="Aptos"/>
              </a:rPr>
              <a:t>MODEL + HARNESS → GOAL-DIRECTED BUSINESS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041648"/>
            <a:ext cx="1938528" cy="420624"/>
          </a:xfrm>
          <a:prstGeom prst="round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4123944"/>
            <a:ext cx="1847088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 i="0">
                <a:solidFill>
                  <a:srgbClr val="06121B"/>
                </a:solidFill>
                <a:latin typeface="Aptos"/>
              </a:rPr>
              <a:t>TGS-2020503395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681728"/>
            <a:ext cx="475488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455B68"/>
                </a:solidFill>
                <a:latin typeface="Aptos"/>
              </a:rPr>
              <a:t>Opportunities · feasibility · Hermes harness
Multi-agent campaigns · security · human oversight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806440"/>
            <a:ext cx="45720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0" i="0">
                <a:solidFill>
                  <a:srgbClr val="728794"/>
                </a:solidFill>
                <a:latin typeface="Aptos"/>
              </a:rPr>
              <a:t>Tertiary Infotech Academy Pte Ltd  ·  v23.0  ·  11 September 2026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828800"/>
            <a:ext cx="7863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"/>
              </a:rPr>
              <a:t>Welcome &amp; 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063240"/>
            <a:ext cx="7863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4CBD4"/>
                </a:solidFill>
                <a:latin typeface="Aptos"/>
              </a:rPr>
              <a:t>Set up the conditions for focused, safe and evidence-led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395728" cy="731520"/>
          </a:xfrm>
          <a:prstGeom prst="round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91456"/>
            <a:ext cx="2395728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ATTEND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4448" y="4572000"/>
            <a:ext cx="2395728" cy="731520"/>
          </a:xfrm>
          <a:prstGeom prst="round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4791456"/>
            <a:ext cx="2395728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PARTICIPATE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5936" y="4572000"/>
            <a:ext cx="2395728" cy="731520"/>
          </a:xfrm>
          <a:prstGeom prst="round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4791456"/>
            <a:ext cx="2395728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PROTECT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07424" y="4572000"/>
            <a:ext cx="2395728" cy="731520"/>
          </a:xfrm>
          <a:prstGeom prst="round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4791456"/>
            <a:ext cx="2395728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002</a:t>
            </a:r>
          </a:p>
        </p:txBody>
      </p:sp>
    </p:spTree>
  </p:cSld>
  <p:transition spd="fast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TRAQOM · SSG 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Digital Attendance (Mandatory)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230368" cy="181051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05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 i="0">
                <a:solidFill>
                  <a:srgbClr val="F0A924"/>
                </a:solidFill>
                <a:latin typeface="Aptos"/>
              </a:rPr>
              <a:t>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148840"/>
            <a:ext cx="33832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0D202D"/>
                </a:solidFill>
                <a:latin typeface="Aptos"/>
              </a:rPr>
              <a:t>Scan and submit at the start of each training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230368" cy="181051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1005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 i="0">
                <a:solidFill>
                  <a:srgbClr val="00B9A7"/>
                </a:solidFill>
                <a:latin typeface="Aptos"/>
              </a:rPr>
              <a:t>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48840"/>
            <a:ext cx="33832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0D202D"/>
                </a:solidFill>
                <a:latin typeface="Aptos"/>
              </a:rPr>
              <a:t>Complete the afternoon record before leaving.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230368" cy="181051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1005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2AB8F3"/>
                </a:solidFill>
                <a:latin typeface="Aptos"/>
              </a:rPr>
              <a:t>EXAM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251960"/>
            <a:ext cx="33832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0D202D"/>
                </a:solidFill>
                <a:latin typeface="Aptos"/>
              </a:rPr>
              <a:t>A separate attendance record is required for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86200"/>
            <a:ext cx="5230368" cy="181051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06240"/>
            <a:ext cx="10058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 i="0">
                <a:solidFill>
                  <a:srgbClr val="8A6EFF"/>
                </a:solidFill>
                <a:latin typeface="Aptos"/>
              </a:rP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251960"/>
            <a:ext cx="33832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0D202D"/>
                </a:solidFill>
                <a:latin typeface="Aptos"/>
              </a:rPr>
              <a:t>Minimum attendance is required for assessment and funding eligibility.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Tertiary Infotech WSQ administration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003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YOUR TRAINER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About the Trainer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434340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7632" y="2240280"/>
            <a:ext cx="1572768" cy="15727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2615184"/>
            <a:ext cx="157276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ptos"/>
              </a:rPr>
              <a:t>GT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87952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General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828032"/>
            <a:ext cx="28803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C4CBD4"/>
                </a:solidFill>
                <a:latin typeface="Aptos"/>
              </a:rPr>
              <a:t>WSQ Facilitator · Technology and Business Innovation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37360"/>
            <a:ext cx="7022592" cy="87782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82296" cy="87782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892808"/>
            <a:ext cx="1600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F0A924"/>
                </a:solidFill>
                <a:latin typeface="Aptos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9280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Facilitates discussion, practice and assessment readiness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798063"/>
            <a:ext cx="7022592" cy="87782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798063"/>
            <a:ext cx="82296" cy="87782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953511"/>
            <a:ext cx="1600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00B9A7"/>
                </a:solidFill>
                <a:latin typeface="Aptos"/>
              </a:rPr>
              <a:t>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53511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Business process improvement, AI adoption and responsible innovation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858768"/>
            <a:ext cx="7022592" cy="87782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858768"/>
            <a:ext cx="82296" cy="87782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4014216"/>
            <a:ext cx="1600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B8F3"/>
                </a:solidFill>
                <a:latin typeface="Aptos"/>
              </a:rPr>
              <a:t>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14216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Transfer concepts into safe workplace experiments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919471"/>
            <a:ext cx="7022592" cy="87782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4919471"/>
            <a:ext cx="82296" cy="87782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5074919"/>
            <a:ext cx="1600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8A6EFF"/>
                </a:solidFill>
                <a:latin typeface="Aptos"/>
              </a:rPr>
              <a:t>APPROACH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19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Explain → demonstrate → practise → verify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004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YOUR TRAINER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About the Trainer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434340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7632" y="2240280"/>
            <a:ext cx="1572768" cy="15727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2615184"/>
            <a:ext cx="157276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87952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828032"/>
            <a:ext cx="28803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C4CBD4"/>
                </a:solidFill>
                <a:latin typeface="Aptos"/>
              </a:rPr>
              <a:t>Principal Trainer · 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37360"/>
            <a:ext cx="7022592" cy="87782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82296" cy="87782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892808"/>
            <a:ext cx="1600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F0A924"/>
                </a:solidFill>
                <a:latin typeface="Aptos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9280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Founder and Principal Trainer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798063"/>
            <a:ext cx="7022592" cy="87782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798063"/>
            <a:ext cx="82296" cy="87782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953511"/>
            <a:ext cx="1600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00B9A7"/>
                </a:solidFill>
                <a:latin typeface="Aptos"/>
              </a:rPr>
              <a:t>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53511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AI, automation, data and software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858768"/>
            <a:ext cx="7022592" cy="87782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858768"/>
            <a:ext cx="82296" cy="87782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4014216"/>
            <a:ext cx="1600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B8F3"/>
                </a:solidFill>
                <a:latin typeface="Aptos"/>
              </a:rPr>
              <a:t>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14216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Practical workplace application and governance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919471"/>
            <a:ext cx="7022592" cy="87782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4919471"/>
            <a:ext cx="82296" cy="87782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5074919"/>
            <a:ext cx="1600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8A6EFF"/>
                </a:solidFill>
                <a:latin typeface="Aptos"/>
              </a:rPr>
              <a:t>APPROACH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19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Architecture → runtime trace → lab 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005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T0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Let’s know each 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3419856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4434840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Your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2907792" cy="32644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What work do you want an agent to improve?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64208"/>
            <a:ext cx="3419856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64208"/>
            <a:ext cx="82296" cy="443484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36008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190195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Your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624328"/>
            <a:ext cx="2907792" cy="32644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Which AI or automation tools have you used?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664208"/>
            <a:ext cx="3419856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64208"/>
            <a:ext cx="82296" cy="4434840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20240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190195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Your 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24328"/>
            <a:ext cx="2907792" cy="32644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What safe, observable outcome do you want by the end of today?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Class activity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006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T0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Ground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Participate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Ask questions and share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Protect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Use fictional data; never expose live secrets.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Test outputs before calling work complete.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Respect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One conversation at a time; challenge ideas, not people.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Class norms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007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SCHEDULE · 8 TRAINING HOURS + 1 HOUR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One-day Learning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09344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64792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F0A924"/>
                </a:solidFill>
                <a:latin typeface="Aptos"/>
              </a:rPr>
              <a:t>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09928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Welcome, AM digital attendance and assessment briefing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09344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64792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F0A924"/>
                </a:solidFill>
                <a:latin typeface="Aptos"/>
              </a:rPr>
              <a:t>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1709928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AI Engineering Evolution and Agent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267712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423160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00B9A7"/>
                </a:solidFill>
                <a:latin typeface="Aptos"/>
              </a:rPr>
              <a:t>45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68296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Install Hermes and engineer a task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267712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F0A924"/>
                </a:solidFill>
                <a:latin typeface="Aptos"/>
              </a:rPr>
              <a:t>40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2368296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Business Opportunities and Feasibility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926080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081528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00B9A7"/>
                </a:solidFill>
                <a:latin typeface="Aptos"/>
              </a:rPr>
              <a:t>45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026664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Prioritise ten industry use cases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926080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81528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F0A924"/>
                </a:solidFill>
                <a:latin typeface="Aptos"/>
              </a:rPr>
              <a:t>45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026664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Hermes Agent Harness in Practice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584448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739896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00B9A7"/>
                </a:solidFill>
                <a:latin typeface="Aptos"/>
              </a:rPr>
              <a:t>65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85032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Tools, MCP, memory and skills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3584448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39896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F0A924"/>
                </a:solidFill>
                <a:latin typeface="Aptos"/>
              </a:rPr>
              <a:t>40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456" y="3685032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Multi-Agent Campaign Orchestration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4242816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398264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00B9A7"/>
                </a:solidFill>
                <a:latin typeface="Aptos"/>
              </a:rPr>
              <a:t>45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343400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Subagents and marketing campaign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4242816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398264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F0A924"/>
                </a:solidFill>
                <a:latin typeface="Apto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4343400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Security Governance and Implementation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4901183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056631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00B9A7"/>
                </a:solidFill>
                <a:latin typeface="Aptos"/>
              </a:rPr>
              <a:t>45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001767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0" i="0">
                <a:solidFill>
                  <a:srgbClr val="0D202D"/>
                </a:solidFill>
                <a:latin typeface="Aptos"/>
              </a:rPr>
              <a:t>Lab 8 and integrated course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4901183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056631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8A6EFF"/>
                </a:solidFill>
                <a:latin typeface="Aptos"/>
              </a:rPr>
              <a:t>30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7456" y="5001767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1" i="0">
                <a:solidFill>
                  <a:srgbClr val="0D202D"/>
                </a:solidFill>
                <a:latin typeface="Aptos"/>
              </a:rPr>
              <a:t>Written Assessment (SAQ), open book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" y="5559552"/>
            <a:ext cx="5230368" cy="53035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715000"/>
            <a:ext cx="5943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1" i="0">
                <a:solidFill>
                  <a:srgbClr val="8A6EFF"/>
                </a:solidFill>
                <a:latin typeface="Aptos"/>
              </a:rPr>
              <a:t>30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660136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9" b="1" i="0">
                <a:solidFill>
                  <a:srgbClr val="0D202D"/>
                </a:solidFill>
                <a:latin typeface="Aptos"/>
              </a:rPr>
              <a:t>Oral Questioning (OQ)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008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What You Will Be Able to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48656" cy="1207008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56816"/>
            <a:ext cx="566928" cy="56692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103120"/>
            <a:ext cx="566928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901952"/>
            <a:ext cx="3977639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 i="0">
                <a:solidFill>
                  <a:srgbClr val="0D202D"/>
                </a:solidFill>
                <a:latin typeface="Aptos"/>
              </a:rPr>
              <a:t>Compare the 2023 prompt, 2024 context, 2025 harness and 2026 agent engineering paradigms and evaluate their impact on business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664208"/>
            <a:ext cx="5248656" cy="1207008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956816"/>
            <a:ext cx="566928" cy="56692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03120"/>
            <a:ext cx="566928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LO2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1901952"/>
            <a:ext cx="3977639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 i="0">
                <a:solidFill>
                  <a:srgbClr val="0D202D"/>
                </a:solidFill>
                <a:latin typeface="Aptos"/>
              </a:rPr>
              <a:t>Identify and prioritise realistic AI-agent opportunities using process evidence, value measures and human accountability.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108960"/>
            <a:ext cx="5248656" cy="1207008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401568"/>
            <a:ext cx="566928" cy="56692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547872"/>
            <a:ext cx="566928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LO3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3346704"/>
            <a:ext cx="3977639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 i="0">
                <a:solidFill>
                  <a:srgbClr val="0D202D"/>
                </a:solidFill>
                <a:latin typeface="Aptos"/>
              </a:rPr>
              <a:t>Digitalise a bounded workflow with Hermes Agent tools, context, memory, skills and specialist subagents.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108960"/>
            <a:ext cx="5248656" cy="1207008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401568"/>
            <a:ext cx="566928" cy="56692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547872"/>
            <a:ext cx="566928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LO4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3346704"/>
            <a:ext cx="3977639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 i="0">
                <a:solidFill>
                  <a:srgbClr val="0D202D"/>
                </a:solidFill>
                <a:latin typeface="Aptos"/>
              </a:rPr>
              <a:t>Conduct feasibility and cost-benefit analysis for an AI-agent pilot using measurable assumptions and risk-adjusted controls.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553712"/>
            <a:ext cx="5248656" cy="1207008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832" y="4846320"/>
            <a:ext cx="566928" cy="56692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4992624"/>
            <a:ext cx="566928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LO5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4791456"/>
            <a:ext cx="3977639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 i="0">
                <a:solidFill>
                  <a:srgbClr val="0D202D"/>
                </a:solidFill>
                <a:latin typeface="Aptos"/>
              </a:rPr>
              <a:t>Implement and evaluate a governed multi-agent marketing or video campaign with security, data governance and human release approval.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https://www.tertiarycourses.com.sg/wsq-business-innovation-with-ai-agents.html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009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ASSESSMENT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Final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30368" cy="356616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176272"/>
            <a:ext cx="1234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500" b="1" i="0">
                <a:solidFill>
                  <a:srgbClr val="F0A924"/>
                </a:solidFill>
                <a:latin typeface="Aptos"/>
              </a:rPr>
              <a:t>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971800"/>
            <a:ext cx="44805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D202D"/>
                </a:solidFill>
                <a:latin typeface="Aptos"/>
              </a:rPr>
              <a:t>Written Assessment (SAQ)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703320"/>
            <a:ext cx="4480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455B68"/>
                </a:solidFill>
                <a:latin typeface="Aptos"/>
              </a:rPr>
              <a:t>Five open-ended questions mapped to A1–A5 and the taught business-innovation process.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75488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Competent / Not Yet Competent · Assessor records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230368" cy="356616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2176272"/>
            <a:ext cx="1234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500" b="1" i="0">
                <a:solidFill>
                  <a:srgbClr val="00B9A7"/>
                </a:solidFill>
                <a:latin typeface="Aptos"/>
              </a:rPr>
              <a:t>30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971800"/>
            <a:ext cx="44805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D202D"/>
                </a:solidFill>
                <a:latin typeface="Aptos"/>
              </a:rPr>
              <a:t>Oral Questioning (OQ)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3703320"/>
            <a:ext cx="4480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455B68"/>
                </a:solidFill>
                <a:latin typeface="Aptos"/>
              </a:rPr>
              <a:t>Five assessor-led questions mapped to K1–K4, with follow-up probes where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475488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Competent / Not Yet Competent · Assessor records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010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FIVE CONNECTED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Course Map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2057400"/>
            <a:ext cx="731520" cy="73152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4028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920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0D202D"/>
                </a:solidFill>
                <a:latin typeface="Aptos"/>
              </a:rPr>
              <a:t>Evolution and architecture</a:t>
            </a:r>
          </a:p>
        </p:txBody>
      </p:sp>
      <p:sp>
        <p:nvSpPr>
          <p:cNvPr id="11" name="Chevron 10"/>
          <p:cNvSpPr/>
          <p:nvPr/>
        </p:nvSpPr>
        <p:spPr>
          <a:xfrm>
            <a:off x="2633472" y="2267712"/>
            <a:ext cx="384048" cy="347472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2057400"/>
            <a:ext cx="731520" cy="73152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63240"/>
            <a:ext cx="1920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0D202D"/>
                </a:solidFill>
                <a:latin typeface="Aptos"/>
              </a:rPr>
              <a:t>Opportunity and feasibility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9472" y="2267712"/>
            <a:ext cx="384048" cy="347472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2057400"/>
            <a:ext cx="731520" cy="73152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24028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063240"/>
            <a:ext cx="1920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0D202D"/>
                </a:solidFill>
                <a:latin typeface="Aptos"/>
              </a:rPr>
              <a:t>Hermes harness</a:t>
            </a:r>
          </a:p>
        </p:txBody>
      </p:sp>
      <p:sp>
        <p:nvSpPr>
          <p:cNvPr id="19" name="Chevron 18"/>
          <p:cNvSpPr/>
          <p:nvPr/>
        </p:nvSpPr>
        <p:spPr>
          <a:xfrm>
            <a:off x="7205472" y="2267712"/>
            <a:ext cx="384048" cy="347472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92439" y="2057400"/>
            <a:ext cx="731520" cy="73152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39" y="224028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063240"/>
            <a:ext cx="1920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0D202D"/>
                </a:solidFill>
                <a:latin typeface="Aptos"/>
              </a:rPr>
              <a:t>Multi-agent campaigns</a:t>
            </a:r>
          </a:p>
        </p:txBody>
      </p:sp>
      <p:sp>
        <p:nvSpPr>
          <p:cNvPr id="23" name="Chevron 22"/>
          <p:cNvSpPr/>
          <p:nvPr/>
        </p:nvSpPr>
        <p:spPr>
          <a:xfrm>
            <a:off x="9491471" y="2267712"/>
            <a:ext cx="384048" cy="347472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78440" y="2057400"/>
            <a:ext cx="731520" cy="73152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224028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063240"/>
            <a:ext cx="1920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0D202D"/>
                </a:solidFill>
                <a:latin typeface="Aptos"/>
              </a:rPr>
              <a:t>Security and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92040"/>
            <a:ext cx="10241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700" b="0" i="0">
                <a:solidFill>
                  <a:srgbClr val="455B68"/>
                </a:solidFill>
                <a:latin typeface="Aptos"/>
              </a:rPr>
              <a:t>Eight labs turn the concepts into governed marketing and video campaign evidence.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011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LMS-TMS · LEARNER RESOURCE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Course Material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171907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6596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LMS-TMS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514600"/>
            <a:ext cx="44805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Authenticated access point for the enrolled course and current resource links.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691640"/>
            <a:ext cx="5230368" cy="171907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96596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LEARNER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514600"/>
            <a:ext cx="44805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Visual slide PDF, Learner Guide and Lesson Plan published as versioned artifacts.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03320"/>
            <a:ext cx="5230368" cy="171907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97764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HANDS-ON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26280"/>
            <a:ext cx="44805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Eight self-contained lab folders with mock data, procedures, verification and cleanup.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703320"/>
            <a:ext cx="5230368" cy="171907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397764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INTEGRITY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526280"/>
            <a:ext cx="44805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0D202D"/>
                </a:solidFill>
                <a:latin typeface="Aptos"/>
              </a:rPr>
              <a:t>Current version, complete inventory, redacted evidence and no secrets or trainer answer keys.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https://lms-tms.tertiaryinfotech.com/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012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GITHUB · COURSE LABS AND LEARNER-SAFE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Learner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04288"/>
            <a:ext cx="9829800" cy="5303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500" b="1" i="0">
                <a:solidFill>
                  <a:srgbClr val="0D202D"/>
                </a:solidFill>
                <a:latin typeface="Aptos"/>
              </a:rPr>
              <a:t>Open the repository for all eight lab folders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9738360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0B9A7"/>
                </a:solidFill>
                <a:latin typeface="Aptos"/>
                <a:hlinkClick r:id="rId2"/>
              </a:rPr>
              <a:t>https://github.com/tertiarycourses/TGS-2020503395-Business-Innovation-with-AI-Agents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160520"/>
            <a:ext cx="92811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0">
                <a:solidFill>
                  <a:srgbClr val="455B68"/>
                </a:solidFill>
                <a:latin typeface="Aptos"/>
              </a:rPr>
              <a:t>The repository contains learner materials only. Assessment answers, credentials and private evidence are excluded.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https://github.com/tertiarycourses/TGS-2020503395-Business-Innovation-with-AI-Agents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013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T0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Classroom Setup Boundary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Use fictional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No customer records, personal data or live production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Keep keys outside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Use .env.example templates; never submit .env or screenshots of secrets.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Start constrained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Enable only the toolsets required by the current lab.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Stop on mismatch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 wrong course, folder, account or destination is a blocker—not a reason to guess.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safety requirements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014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Aptos"/>
              </a:rPr>
              <a:t>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98755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900" b="1" i="0">
                <a:solidFill>
                  <a:srgbClr val="FFFFFF"/>
                </a:solidFill>
                <a:latin typeface="Aptos"/>
              </a:rPr>
              <a:t>AI agents as governed business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337560"/>
            <a:ext cx="98755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4CBD4"/>
                </a:solidFill>
                <a:latin typeface="Aptos"/>
              </a:rPr>
              <a:t>Compare the engineering eras, identify opportunity, configure Hermes, orchestrate specialists and retain human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015</a:t>
            </a:r>
          </a:p>
        </p:txBody>
      </p:sp>
    </p:spTree>
  </p:cSld>
  <p:transition spd="fast">
    <p:push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DOMAIN 01  ·  14 TECHNICAL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76072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"/>
              </a:rPr>
              <a:t>AI Engineering Evolution and Agent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00400"/>
            <a:ext cx="54406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PROMPT → CONTEXT → HARNESS →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114800"/>
            <a:ext cx="525780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50" b="1" i="0">
                <a:solidFill>
                  <a:srgbClr val="D4E0E5"/>
                </a:solidFill>
                <a:latin typeface="Aptos"/>
              </a:rPr>
              <a:t>Trace the engineering shift from single responses to governed goal-directed systems and map the human brain-body analogy to model-harness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50992"/>
            <a:ext cx="5120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00B9A7"/>
                </a:solidFill>
                <a:latin typeface="Aptos"/>
              </a:rPr>
              <a:t>WEIGHT 20%  ·  LABS 1 /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016</a:t>
            </a:r>
          </a:p>
        </p:txBody>
      </p:sp>
    </p:spTree>
  </p:cSld>
  <p:transition spd="fast">
    <p:push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T1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2023–2026 engineering timeline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578608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8488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8488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2249424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2023 Prompt engineering: shape one response</a:t>
            </a:r>
          </a:p>
        </p:txBody>
      </p:sp>
      <p:sp>
        <p:nvSpPr>
          <p:cNvPr id="12" name="Chevron 11"/>
          <p:cNvSpPr/>
          <p:nvPr/>
        </p:nvSpPr>
        <p:spPr>
          <a:xfrm>
            <a:off x="3209544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9856" y="2148840"/>
            <a:ext cx="2578608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79976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520440"/>
            <a:ext cx="2249424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2024 Context engineering: assemble the right evidence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1032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2148840"/>
            <a:ext cx="2578608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520440"/>
            <a:ext cx="2249424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2025 Harness engineering: control tools and runtime</a:t>
            </a:r>
          </a:p>
        </p:txBody>
      </p:sp>
      <p:sp>
        <p:nvSpPr>
          <p:cNvPr id="22" name="Chevron 21"/>
          <p:cNvSpPr/>
          <p:nvPr/>
        </p:nvSpPr>
        <p:spPr>
          <a:xfrm>
            <a:off x="8732520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42832" y="2148840"/>
            <a:ext cx="2578608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02952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2952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3520440"/>
            <a:ext cx="2249424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2026 AI agents: pursue goals through verified loops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Reference ebooks and course synthesis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017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T1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Prompt engineering and context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Prompt engineering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Instruction wording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Examples and output schema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Single-turn optimisation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Failure: underspecified intent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Context engineering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Evidence selection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Memory and retrieval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Tool results and state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Failure: irrelevant or stale context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Generative AI for Business Innovation; Hermes context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018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T1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Harness engineering and agent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Harness engineering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Tool registry and permissions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Session lifecycle and retries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Observability and approvals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Deterministic runtime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Agent engineering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Goal decomposition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Dynamic tool selection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Observation and replanning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Human accountability for impact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architecture; The Agentic AI Revolution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019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T1 · TECHNICAL TRACE · NATIVE POWERPOINT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Engineering leverage shifts outward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71907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874519"/>
            <a:ext cx="3493008" cy="35204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88920"/>
            <a:ext cx="283464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Business reliability increasingly depends on the system around the model, not only the model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3659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B8C0CA"/>
                </a:solidFill>
                <a:latin typeface="Aptos"/>
              </a:rPr>
              <a:t>Illustrative teaching index — use the relationship, not the values, to guide design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Illustrative synthesis from reference ebooks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020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T1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Agent operating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Interpret goal and authority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Plan the next bounded action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Use an authorised tool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Observe state and evidence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Revise, stop or request 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agent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021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T1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Human and AI-agent operating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Human: brain + body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Brain reasons from perception and memory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Body senses and acts in the world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Values and accountability remain human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Fatigue and attention constrain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AI agent: model + harness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Model predicts and reasons over context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Harness exposes tools, state and controls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No independent moral or legal accountability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Compute and data constrain execution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The Agentic AI Revolution; course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022</a:t>
            </a:r>
          </a:p>
        </p:txBody>
      </p: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T1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The harness has six control planes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3419856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2907792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Instructions, files, retrieval and current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64208"/>
            <a:ext cx="3419856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36008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190195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624328"/>
            <a:ext cx="2907792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Typed actions for files, web, APIs and applications.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664208"/>
            <a:ext cx="3419856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64208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20240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190195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24328"/>
            <a:ext cx="2907792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Curated facts and past evidence across sessions.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009644"/>
            <a:ext cx="3419856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247388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4969764"/>
            <a:ext cx="2907792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Planning, delegation, scheduling and handoffs.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009644"/>
            <a:ext cx="3419856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4009644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36008" y="4265676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808" y="4247388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4969764"/>
            <a:ext cx="2907792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Permissions, sandboxing, approvals and policy.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5008" y="4009644"/>
            <a:ext cx="3419856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5008" y="4009644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11896" y="4265676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7696" y="4247388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Observability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969764"/>
            <a:ext cx="2907792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Logs, traces, tests, cost and outcome metrics.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documentation and course architecture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023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T1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What the harness does on each 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Assemble system and project context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Expose only permitted tool schemas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Execute one action in a bounded backend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Persist selected state and telemetry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Return evidence to model and operator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prompt assembly and tools 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024</a:t>
            </a:r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T1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Where agent systems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Ambiguous outcome or no stop condition.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Grounding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Missing, stale or poisoned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Authority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Tool scope exceeds business need.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Plausible narrative replaces observed state.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The Agentic AI Revolution; Hermes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025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T1 · TECHNICAL TRACE · NATIVE POWERPOINT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Autonomy follows consequence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71907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874519"/>
            <a:ext cx="3493008" cy="35204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88920"/>
            <a:ext cx="283464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As reversibility falls and external impact rises, explicit human approval should increase.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3659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B8C0CA"/>
                </a:solidFill>
                <a:latin typeface="Aptos"/>
              </a:rPr>
              <a:t>Illustrative teaching index — use the relationship, not the values, to guide design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Illustrative governance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026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T1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Four kinds of agent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Input 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Where facts, files and instructions came from.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Execution 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Which tool ran with which bounded arguments.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State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What file, record or status changed.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Decision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Who approved, rejected or revised the outcome.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sessions and audit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027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T1 · TECHNICAL TRACE · VISUAL EXPLAINER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Model plus harness in the workplace</a:t>
            </a:r>
          </a:p>
        </p:txBody>
      </p:sp>
      <p:pic>
        <p:nvPicPr>
          <p:cNvPr id="8" name="Picture 7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0999"/>
            <a:ext cx="6492240" cy="36538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627632"/>
            <a:ext cx="4023360" cy="448056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965960"/>
            <a:ext cx="342900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The model proposes; the harness constrains, acts, records and returns control to people.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4290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456432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401568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Editable labels stay in PowerPoint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087368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114800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059936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Approval is a system state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745736"/>
            <a:ext cx="310896" cy="310896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773168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718304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Evidence closes the loop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AI-generated concept visual, 11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028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T1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Copilot and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Copilot interaction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Human initiates each turn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Recommendation is the main output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Tools are often user-triggered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Context usually ends with the session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Agent operation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Goal can span several actions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State changes can be the output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Tools are selected during the loop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Sessions, memory and schedules create continuity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The Agentic AI Revolution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029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T1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Safe task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Name the business outcome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Define allowed data and systems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Set approval thresholds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Specify acceptance evidence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Add stop and rollback conditions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governance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030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2 · 35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Compare Prompt, Context and Harness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Turn an ambiguous request into a measurable task contract and a minimal context package for an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 prompt-context comparison, AGENTS.md context file, acceptance rubric and a redacted test transcript.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· context files · session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031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2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The improved run names its evidence, respects the no-send rule and passes every acceptance item; the learner distinguishes prompt wording from context and runtime authority.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032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1 · 35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900" b="1" i="0">
                <a:solidFill>
                  <a:srgbClr val="0D202D"/>
                </a:solidFill>
                <a:latin typeface="Aptos"/>
              </a:rPr>
              <a:t>Install Hermes Agent and Run a Safe First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Install Hermes through the official path, complete provider setup, verify the runtime and run a bounded read-only task.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An installation verification record with version, doctor result, provider route, session evidence and cleanup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CLI · provider · local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033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1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Hermes starts, diagnostics identify a configured provider, the first response uses only fictional evidence, and installation-verification.md is complete.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034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6858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Aptos"/>
              </a:rPr>
              <a:t>HERMES REFERENCE IMPLEMENTATION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9844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10 technical workflow blueprints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10241280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C4CBD4"/>
                </a:solidFill>
                <a:latin typeface="Aptos"/>
              </a:rPr>
              <a:t>Each blueprint exposes ingress, runtime capabilities, state/evidence and the control that stops unsafe side effects.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907792"/>
            <a:ext cx="2578608" cy="749808"/>
          </a:xfrm>
          <a:prstGeom prst="round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3072384"/>
            <a:ext cx="411480" cy="41148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182112"/>
            <a:ext cx="411480" cy="1463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3081528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Customer and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2907792"/>
            <a:ext cx="2578608" cy="749808"/>
          </a:xfrm>
          <a:prstGeom prst="round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3072384"/>
            <a:ext cx="411480" cy="41148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182112"/>
            <a:ext cx="411480" cy="1463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3081528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Operations and Supply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2907792"/>
            <a:ext cx="2578608" cy="749808"/>
          </a:xfrm>
          <a:prstGeom prst="round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072384"/>
            <a:ext cx="411480" cy="41148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3182112"/>
            <a:ext cx="411480" cy="1463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081528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Regulated Knowledge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7152" y="2907792"/>
            <a:ext cx="2578608" cy="749808"/>
          </a:xfrm>
          <a:prstGeom prst="round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63456" y="3072384"/>
            <a:ext cx="411480" cy="41148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3182112"/>
            <a:ext cx="411480" cy="1463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3081528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People and Public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67912"/>
            <a:ext cx="2578608" cy="749808"/>
          </a:xfrm>
          <a:prstGeom prst="round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032504"/>
            <a:ext cx="411480" cy="41148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142232"/>
            <a:ext cx="411480" cy="1463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4041648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Marketing and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AFC2CA"/>
                </a:solidFill>
                <a:latin typeface="Aptos"/>
              </a:rPr>
              <a:t>TECHNICAL ANCHOR  ·  Official Hermes user stories and current community use-case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035</a:t>
            </a:r>
          </a:p>
        </p:txBody>
      </p:sp>
    </p:spTree>
  </p:cSld>
  <p:transition spd="fast">
    <p:push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10 BLUEPRINTS · NATIVE POWERPOINT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900" b="1" i="0">
                <a:solidFill>
                  <a:srgbClr val="0D202D"/>
                </a:solidFill>
                <a:latin typeface="Aptos"/>
              </a:rPr>
              <a:t>Runtime Surfaces Across the Reference Implementations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645920"/>
          <a:ext cx="58521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67728" y="1645920"/>
            <a:ext cx="4480560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21945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ENGINEERING 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87168"/>
            <a:ext cx="35661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Capabilities compose into a runtime graph.</a:t>
            </a:r>
          </a:p>
        </p:txBody>
      </p:sp>
      <p:sp>
        <p:nvSpPr>
          <p:cNvPr id="12" name="Oval 11"/>
          <p:cNvSpPr/>
          <p:nvPr/>
        </p:nvSpPr>
        <p:spPr>
          <a:xfrm>
            <a:off x="7333488" y="3273552"/>
            <a:ext cx="292608" cy="29260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236976"/>
            <a:ext cx="30632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 i="0">
                <a:solidFill>
                  <a:srgbClr val="D2D8E0"/>
                </a:solidFill>
                <a:latin typeface="Aptos"/>
              </a:rPr>
              <a:t>File and web tools connect reasoning to evidence.</a:t>
            </a:r>
          </a:p>
        </p:txBody>
      </p:sp>
      <p:sp>
        <p:nvSpPr>
          <p:cNvPr id="14" name="Oval 13"/>
          <p:cNvSpPr/>
          <p:nvPr/>
        </p:nvSpPr>
        <p:spPr>
          <a:xfrm>
            <a:off x="7333488" y="3968496"/>
            <a:ext cx="292608" cy="29260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931920"/>
            <a:ext cx="30632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 i="0">
                <a:solidFill>
                  <a:srgbClr val="D2D8E0"/>
                </a:solidFill>
                <a:latin typeface="Aptos"/>
              </a:rPr>
              <a:t>Delegation divides work into bounded specialist roles.</a:t>
            </a:r>
          </a:p>
        </p:txBody>
      </p:sp>
      <p:sp>
        <p:nvSpPr>
          <p:cNvPr id="16" name="Oval 15"/>
          <p:cNvSpPr/>
          <p:nvPr/>
        </p:nvSpPr>
        <p:spPr>
          <a:xfrm>
            <a:off x="7333488" y="4663440"/>
            <a:ext cx="292608" cy="29260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626864"/>
            <a:ext cx="30632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 i="0">
                <a:solidFill>
                  <a:srgbClr val="D2D8E0"/>
                </a:solidFill>
                <a:latin typeface="Aptos"/>
              </a:rPr>
              <a:t>Memory adds continuity and a new governance boundary.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A blueprint may use several surfaces; counts are not mutually exclusive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036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USE-01 · REFERENCE TOPOLOGY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Customer and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5321808" cy="9144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56816"/>
            <a:ext cx="621792" cy="62179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Retail service 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5464" y="1956816"/>
            <a:ext cx="822960" cy="310896"/>
          </a:xfrm>
          <a:prstGeom prst="round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834640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New complaint with order 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CRM MCP · policy skill ·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Order source, policy citations, approver and final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Agent cannot refund or send without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664208"/>
            <a:ext cx="5321808" cy="9144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0528" y="1956816"/>
            <a:ext cx="621792" cy="62179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2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B2B lead intelligence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51592" y="1956816"/>
            <a:ext cx="822960" cy="310896"/>
          </a:xfrm>
          <a:prstGeom prst="round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51592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28816" y="2834640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Approved target-account 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8816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Web · delegation · CRM MCP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8816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7688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Source URLs, scoring rationale and approval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8816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7688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Sales owner approves contact and claims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Ingress → capability graph → state/evidence → control 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037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USE-03 · REFERENCE TOPOLOGY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Operations and Supply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5321808" cy="91440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56816"/>
            <a:ext cx="621792" cy="62179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Manufacturing exception triage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5464" y="1956816"/>
            <a:ext cx="822960" cy="310896"/>
          </a:xfrm>
          <a:prstGeom prst="roundRect">
            <a:avLst/>
          </a:prstGeom>
          <a:solidFill>
            <a:srgbClr val="C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834640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Quality or downtime alert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Files · data MCP · skill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Signal IDs, thresholds, SOP version and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Engineer authorises any equipment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664208"/>
            <a:ext cx="5321808" cy="91440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0528" y="1956816"/>
            <a:ext cx="621792" cy="62179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2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Logistics disruption planner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51592" y="1956816"/>
            <a:ext cx="822960" cy="310896"/>
          </a:xfrm>
          <a:prstGeom prst="roundRect">
            <a:avLst/>
          </a:prstGeom>
          <a:solidFill>
            <a:srgbClr val="C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51592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28816" y="2834640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Late shipment or route closure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8816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Web · logistics MCP · calculator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8816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7688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Shipment IDs, rates, assumptions and approval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8816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7688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Operations owner approves reroute and spend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Ingress → capability graph → state/evidence → control 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038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USE-05 · REFERENCE TOPOLOGY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Regulated Knowledge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5321808" cy="91440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56816"/>
            <a:ext cx="621792" cy="62179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Banking KYC review pack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5464" y="1956816"/>
            <a:ext cx="822960" cy="310896"/>
          </a:xfrm>
          <a:prstGeom prst="roundRect">
            <a:avLst/>
          </a:prstGeom>
          <a:solidFill>
            <a:srgbClr val="C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834640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Incomplete customer due-diligence 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Document tools · rules skill · audit 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Document list, rule references and reviewer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Compliance officer makes disposition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664208"/>
            <a:ext cx="5321808" cy="91440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0528" y="1956816"/>
            <a:ext cx="621792" cy="62179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2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Healthcare discharge education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51592" y="1956816"/>
            <a:ext cx="822960" cy="310896"/>
          </a:xfrm>
          <a:prstGeom prst="roundRect">
            <a:avLst/>
          </a:prstGeom>
          <a:solidFill>
            <a:srgbClr val="C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51592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28816" y="2834640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Approved discharge summary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8816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Files · approved knowledge · language skill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8816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7688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Source summary, version, clinical approval and delivery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8816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7688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Clinician validates accuracy and suitability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Ingress → capability graph → state/evidence → control 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039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USE-07 · REFERENCE TOPOLOGY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People and Public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5321808" cy="9144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56816"/>
            <a:ext cx="621792" cy="62179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HR policy navigator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5464" y="1956816"/>
            <a:ext cx="822960" cy="310896"/>
          </a:xfrm>
          <a:prstGeom prst="round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834640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Employee policy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RAG · files ·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Policy version, citations, confidence and escalation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HR decides eligibility and exceptions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664208"/>
            <a:ext cx="5321808" cy="9144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0528" y="1956816"/>
            <a:ext cx="621792" cy="62179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2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Municipal case intake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51592" y="1956816"/>
            <a:ext cx="822960" cy="310896"/>
          </a:xfrm>
          <a:prstGeom prst="round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51592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28816" y="2834640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Resident service request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8816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Forms · geodata MCP · workflow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8816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7688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Case ID, data basis and routing decision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8816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7688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Officer confirms category and priority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Ingress → capability graph → state/evidence → control 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040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USE-09 · REFERENCE TOPOLOGY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Marketing and Media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5321808" cy="91440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56816"/>
            <a:ext cx="621792" cy="62179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Multi-agent marketing campaign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5464" y="1956816"/>
            <a:ext cx="822960" cy="310896"/>
          </a:xfrm>
          <a:prstGeom prst="round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834640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Approved product and audience brief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Delegation · web · skills ·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Sources, claim register, revisions and sign-off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Brand owner approves claims, spend and release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664208"/>
            <a:ext cx="5321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664208"/>
            <a:ext cx="5321808" cy="91440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0528" y="1956816"/>
            <a:ext cx="621792" cy="62179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121408"/>
            <a:ext cx="621792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2" y="1901952"/>
            <a:ext cx="31546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D202D"/>
                </a:solidFill>
                <a:latin typeface="Aptos"/>
              </a:rPr>
              <a:t>Multi-agent video campaign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51592" y="1956816"/>
            <a:ext cx="822960" cy="310896"/>
          </a:xfrm>
          <a:prstGeom prst="roundRect">
            <a:avLst/>
          </a:prstGeom>
          <a:solidFill>
            <a:srgbClr val="C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51592" y="2039112"/>
            <a:ext cx="822960" cy="137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28816" y="2834640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816352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INGRESS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2788920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Approved campaign concept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8816" y="3602736"/>
            <a:ext cx="36576" cy="20116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584448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CAPABILITY 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3557016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Delegation · image/video tools · files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8816" y="4370832"/>
            <a:ext cx="36576" cy="20116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7688" y="4352544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STATE /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4325112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Consent, licences, prompts, QC and release record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8816" y="5138928"/>
            <a:ext cx="36576" cy="20116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7688" y="5120640"/>
            <a:ext cx="1298448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10" b="1" i="0">
                <a:solidFill>
                  <a:srgbClr val="0D202D"/>
                </a:solidFill>
                <a:latin typeface="Aptos"/>
              </a:rPr>
              <a:t>CONTROL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5093208"/>
            <a:ext cx="3200400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70" b="1" i="0">
                <a:solidFill>
                  <a:srgbClr val="0D202D"/>
                </a:solidFill>
                <a:latin typeface="Aptos"/>
              </a:rPr>
              <a:t>Human approves likeness, rights and final render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Ingress → capability graph → state/evidence → control 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041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EXTERNAL REACH × EXECUTION AMBIGUITY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Deployment Topology Selector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572768"/>
            <a:ext cx="4846320" cy="2217420"/>
          </a:xfrm>
          <a:prstGeom prst="rect">
            <a:avLst/>
          </a:prstGeom>
          <a:solidFill>
            <a:srgbClr val="E8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1572768"/>
            <a:ext cx="4846320" cy="2217420"/>
          </a:xfrm>
          <a:prstGeom prst="rect">
            <a:avLst/>
          </a:prstGeom>
          <a:solidFill>
            <a:srgbClr val="F7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3790188"/>
            <a:ext cx="4846320" cy="2217420"/>
          </a:xfrm>
          <a:prstGeom prst="rect">
            <a:avLst/>
          </a:prstGeom>
          <a:solidFill>
            <a:srgbClr val="EE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3790188"/>
            <a:ext cx="4846320" cy="2217420"/>
          </a:xfrm>
          <a:prstGeom prst="rect">
            <a:avLst/>
          </a:prstGeom>
          <a:solidFill>
            <a:srgbClr val="F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Up-Down Arrow 11"/>
          <p:cNvSpPr/>
          <p:nvPr/>
        </p:nvSpPr>
        <p:spPr>
          <a:xfrm>
            <a:off x="804672" y="2267712"/>
            <a:ext cx="228600" cy="2944368"/>
          </a:xfrm>
          <a:prstGeom prst="upDownArrow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" y="1755648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455B68"/>
                </a:solidFill>
                <a:latin typeface="Aptos"/>
              </a:rPr>
              <a:t>LOWER
AMBIGUITY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" y="5330952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1" i="0">
                <a:solidFill>
                  <a:srgbClr val="455B68"/>
                </a:solidFill>
                <a:latin typeface="Aptos"/>
              </a:rPr>
              <a:t>HIGHER
AMBIGUITY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828800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B9A7"/>
                </a:solidFill>
                <a:latin typeface="Aptos"/>
              </a:rPr>
              <a:t>LOCAL / 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31720"/>
            <a:ext cx="411480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0D202D"/>
                </a:solidFill>
                <a:latin typeface="Aptos"/>
              </a:rPr>
              <a:t>• CLI or TUI session
• File + read-only web
• Manual acceptance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F0A924"/>
                </a:solidFill>
                <a:latin typeface="Aptos"/>
              </a:rPr>
              <a:t>ROUTED / REVIEWED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411480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0D202D"/>
                </a:solidFill>
                <a:latin typeface="Aptos"/>
              </a:rPr>
              <a:t>• Gateway identity
• Draft-only delivery
• Approval callback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46220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8A6EFF"/>
                </a:solidFill>
                <a:latin typeface="Aptos"/>
              </a:rPr>
              <a:t>STATEFUL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49140"/>
            <a:ext cx="411480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0D202D"/>
                </a:solidFill>
                <a:latin typeface="Aptos"/>
              </a:rPr>
              <a:t>• Profiles + Kanban DAG
• Worker lanes
• Artifact handoffs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46220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C93B3B"/>
                </a:solidFill>
                <a:latin typeface="Aptos"/>
              </a:rPr>
              <a:t>DISTRIBUTED CONTROL PLANE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49140"/>
            <a:ext cx="411480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0D202D"/>
                </a:solidFill>
                <a:latin typeface="Aptos"/>
              </a:rPr>
              <a:t>• Gateway + cron
• MCP / remote tools
• Human release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053328"/>
            <a:ext cx="5760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455B68"/>
                </a:solidFill>
                <a:latin typeface="Aptos"/>
              </a:rPr>
              <a:t>LOCAL BOUNDARY  →  EXTERNAL / DISTRIBUTED REACH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Select topology from identity, state, execution and egress requirements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042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6217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Aptos"/>
              </a:rPr>
              <a:t>REFERENCE IMPLEMENTATION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987552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Seven interfaces make a Hermes workflow operable</a:t>
            </a:r>
          </a:p>
        </p:txBody>
      </p:sp>
      <p:sp>
        <p:nvSpPr>
          <p:cNvPr id="4" name="Oval 3"/>
          <p:cNvSpPr/>
          <p:nvPr/>
        </p:nvSpPr>
        <p:spPr>
          <a:xfrm>
            <a:off x="1088136" y="2743200"/>
            <a:ext cx="603504" cy="603504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" y="2898648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75887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ptos"/>
              </a:rPr>
              <a:t>Ingress</a:t>
            </a:r>
          </a:p>
        </p:txBody>
      </p:sp>
      <p:sp>
        <p:nvSpPr>
          <p:cNvPr id="7" name="Chevron 6"/>
          <p:cNvSpPr/>
          <p:nvPr/>
        </p:nvSpPr>
        <p:spPr>
          <a:xfrm>
            <a:off x="1993392" y="2889504"/>
            <a:ext cx="310896" cy="310896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15768" y="2743200"/>
            <a:ext cx="603504" cy="603504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15768" y="2898648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675887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ptos"/>
              </a:rPr>
              <a:t>Identity route</a:t>
            </a:r>
          </a:p>
        </p:txBody>
      </p:sp>
      <p:sp>
        <p:nvSpPr>
          <p:cNvPr id="11" name="Chevron 10"/>
          <p:cNvSpPr/>
          <p:nvPr/>
        </p:nvSpPr>
        <p:spPr>
          <a:xfrm>
            <a:off x="3621024" y="2889504"/>
            <a:ext cx="310896" cy="310896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2743200"/>
            <a:ext cx="603504" cy="603504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898648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3675887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ptos"/>
              </a:rPr>
              <a:t>Model/profile</a:t>
            </a:r>
          </a:p>
        </p:txBody>
      </p:sp>
      <p:sp>
        <p:nvSpPr>
          <p:cNvPr id="15" name="Chevron 14"/>
          <p:cNvSpPr/>
          <p:nvPr/>
        </p:nvSpPr>
        <p:spPr>
          <a:xfrm>
            <a:off x="5248656" y="2889504"/>
            <a:ext cx="310896" cy="310896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71032" y="2743200"/>
            <a:ext cx="603504" cy="603504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2898648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1264" y="3675887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ptos"/>
              </a:rPr>
              <a:t>Tool graph</a:t>
            </a:r>
          </a:p>
        </p:txBody>
      </p:sp>
      <p:sp>
        <p:nvSpPr>
          <p:cNvPr id="19" name="Chevron 18"/>
          <p:cNvSpPr/>
          <p:nvPr/>
        </p:nvSpPr>
        <p:spPr>
          <a:xfrm>
            <a:off x="6876288" y="2889504"/>
            <a:ext cx="310896" cy="310896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98664" y="2743200"/>
            <a:ext cx="603504" cy="603504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8664" y="2898648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3675887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ptos"/>
              </a:rPr>
              <a:t>State contract</a:t>
            </a:r>
          </a:p>
        </p:txBody>
      </p:sp>
      <p:sp>
        <p:nvSpPr>
          <p:cNvPr id="23" name="Chevron 22"/>
          <p:cNvSpPr/>
          <p:nvPr/>
        </p:nvSpPr>
        <p:spPr>
          <a:xfrm>
            <a:off x="8503920" y="2889504"/>
            <a:ext cx="310896" cy="310896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26296" y="2743200"/>
            <a:ext cx="603504" cy="603504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296" y="2898648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3675887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ptos"/>
              </a:rPr>
              <a:t>Telemetry</a:t>
            </a:r>
          </a:p>
        </p:txBody>
      </p:sp>
      <p:sp>
        <p:nvSpPr>
          <p:cNvPr id="27" name="Chevron 26"/>
          <p:cNvSpPr/>
          <p:nvPr/>
        </p:nvSpPr>
        <p:spPr>
          <a:xfrm>
            <a:off x="10131552" y="2889504"/>
            <a:ext cx="310896" cy="310896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53928" y="2743200"/>
            <a:ext cx="603504" cy="603504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53928" y="2898648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3675887"/>
            <a:ext cx="1463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ptos"/>
              </a:rPr>
              <a:t>Recovery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937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700" b="1" i="0">
                <a:solidFill>
                  <a:srgbClr val="D2D8E0"/>
                </a:solidFill>
                <a:latin typeface="Aptos"/>
              </a:rPr>
              <a:t>Every interface must identify its owner, data contract, failure signal and observable proof.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AFC2CA"/>
                </a:solidFill>
                <a:latin typeface="Aptos"/>
              </a:rPr>
              <a:t>TECHNICAL ANCHOR  ·  Learner Guide · Hermes reference implementation contract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043</a:t>
            </a:r>
          </a:p>
        </p:txBody>
      </p:sp>
    </p:spTree>
  </p:cSld>
  <p:transition spd="fast">
    <p:push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DOMAIN 02  ·  14 TECHNICAL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76072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500" b="1" i="0">
                <a:solidFill>
                  <a:srgbClr val="FFFFFF"/>
                </a:solidFill>
                <a:latin typeface="Aptos"/>
              </a:rPr>
              <a:t>Business Opportunities and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00400"/>
            <a:ext cx="54406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PROCESS EVIDENCE · VALUE · COST ·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114800"/>
            <a:ext cx="525780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50" b="1" i="0">
                <a:solidFill>
                  <a:srgbClr val="D4E0E5"/>
                </a:solidFill>
                <a:latin typeface="Aptos"/>
              </a:rPr>
              <a:t>Select realistic AI-agent opportunities from process evidence and build a risk-adjusted business case instead of automating attractive anecdotes.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50992"/>
            <a:ext cx="5120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00B9A7"/>
                </a:solidFill>
                <a:latin typeface="Aptos"/>
              </a:rPr>
              <a:t>WEIGHT 20%  ·  LABS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044</a:t>
            </a:r>
          </a:p>
        </p:txBody>
      </p:sp>
    </p:spTree>
  </p:cSld>
  <p:transition spd="fast">
    <p:push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T2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Opportunity discovery funnel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Map process and pain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Locate judgement and information work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Define measurable outcome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Screen risk and data readiness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Select bounded 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Untangling AI; official learning outcomes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045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T2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Agent-worthy task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Variable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Cases differ enough to require interpretation.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Tool crossing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Work spans documents, systems or channels.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Intermediate results change the next 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The result can be tested against observable criteria.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The Agentic AI Revolution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046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T2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Use automation when the path is known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Conventional automation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Stable rules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Structured inputs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Low ambiguity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High repeat volume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AI agent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Changing evidence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Unstructured inputs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Several valid paths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Human review of judgement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Reference ebooks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047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T2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Process evidence sheet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Cycle time, volume, cost and error 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Bottleneck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Wait, rework, handoff or search delay.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Who exercises judgement and with what policy.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Specific measurable future-state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Untangling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048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T2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Value hypothesis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Business event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Agent intervention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Changed operating metric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Financial or strategic effect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Measurement window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Generative AI for Business Innovation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049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T2 · TECHNICAL TRACE · NATIVE POWERPOINT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Illustrative opportunity portfolio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71907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874519"/>
            <a:ext cx="3493008" cy="35204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88920"/>
            <a:ext cx="283464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Prioritisation combines value, feasibility and governability; the tallest business value alone does not win.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3659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B8C0CA"/>
                </a:solidFill>
                <a:latin typeface="Aptos"/>
              </a:rPr>
              <a:t>Illustrative teaching index — use the relationship, not the values, to guide design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Illustrative workshop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050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T2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Feasibility has four lenses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Availability, quality, rights and freshness.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Technical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Models, tools, integration and reliability.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Operational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Owners, exceptions, training and support.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Privacy, security, compliance and accountability.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Generative AI for Business Innovation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051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T2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Pilot cost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One-time build and integration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Recurring model and tool cost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Human review and exception handling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Security, monitoring and support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Change and adoption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Generative AI for Business Innovation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052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T2 · TECHNICAL TRACE · NATIVE POWERPOINT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Risk-adjusted benefit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71907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874519"/>
            <a:ext cx="3493008" cy="35204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88920"/>
            <a:ext cx="283464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A credible business case subtracts review, expected failure loss and recurring operation—not just software fees.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3659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B8C0CA"/>
                </a:solidFill>
                <a:latin typeface="Aptos"/>
              </a:rPr>
              <a:t>Illustrative teaching index — use the relationship, not the values, to guide design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Illustrative cost-benefit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053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T2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Expected value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Hours saved × loaded cost, revenue lift or loss avoided.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Probability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Observed pilot success rate, not optimism.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Volume and consequence per decision.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Control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Review, monitoring, incident and audit effort.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feasibility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054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T2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Proof of concept and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Proof of concept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Can the mechanism work?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Small synthetic dataset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Technical learning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No business-scale claim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Pilot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Does it create value in context?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Representative bounded cases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Operational and governance evidence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Go, revise or stop decision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Generative AI for Business Innovation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055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T2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Pilot scorecard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Quality and factuality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Cycle time and throughput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Human-review burden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Safety and control exceptions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User and business 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Untangling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056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6 · 45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Prioritise Ten Industry Use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Score the ten realistic use cases for value, feasibility, risk and evidence readiness, then calculate a risk-adjusted pilot 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 completed opportunity matrix, transparent cost-benefit calculation, pilot charter and stop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Spreadsheet model · Hermes analysis · human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057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6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The selected case wins under the documented weights, the arithmetic is reproducible, risks and review cost are included, and the pilot has a measurable stop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058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T2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Ten-industry use-case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Trigger, inputs and output are named.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Controllable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Human gate and tool scope are explicit.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Observable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Evidence shows whether work succeeded.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Economic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Value exceeds build, run and risk cost.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use-case atlas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059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T2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Scale or stop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Scale signals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Repeatable quality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Positive risk-adjusted value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Low exception burden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Named operating 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Stop or redesign signals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Unverifiable output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Sensitive data without controls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Review cost erases value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Failures are hard to detect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Untangling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060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DOMAIN 03  ·  14 TECHNICAL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76072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500" b="1" i="0">
                <a:solidFill>
                  <a:srgbClr val="FFFFFF"/>
                </a:solidFill>
                <a:latin typeface="Aptos"/>
              </a:rPr>
              <a:t>Hermes Agent Harness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00400"/>
            <a:ext cx="54406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INSTALL · CONTEXT · TOOLS · SKILLS ·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114800"/>
            <a:ext cx="525780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50" b="1" i="0">
                <a:solidFill>
                  <a:srgbClr val="D4E0E5"/>
                </a:solidFill>
                <a:latin typeface="Aptos"/>
              </a:rPr>
              <a:t>Inspect Hermes Agent as a concrete harness and connect each runtime component to a business control, learner lab and observable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50992"/>
            <a:ext cx="5120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00B9A7"/>
                </a:solidFill>
                <a:latin typeface="Aptos"/>
              </a:rPr>
              <a:t>WEIGHT 20%  ·  LABS 1 / 2 / 3 /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061</a:t>
            </a:r>
          </a:p>
        </p:txBody>
      </p:sp>
    </p:spTree>
  </p:cSld>
  <p:transition spd="fast">
    <p:push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T3 · TECHNICAL TRACE · VISUAL EXPLAINER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Hermes Agent runtime surface</a:t>
            </a:r>
          </a:p>
        </p:txBody>
      </p:sp>
      <p:pic>
        <p:nvPicPr>
          <p:cNvPr id="8" name="Picture 7" descr="hermes-official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12244"/>
            <a:ext cx="6492240" cy="11113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627632"/>
            <a:ext cx="4023360" cy="448056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965960"/>
            <a:ext cx="342900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Hermes combines conversation, tool use, memory, skills and delegation inside one open-source harness.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4290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456432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401568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Model-flexible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087368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114800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059936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Local state by default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745736"/>
            <a:ext cx="310896" cy="310896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773168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718304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Toolsets are configurable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NousResearch Hermes Agent 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062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T3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Supported installation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Official installer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Setup wizard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Provider authentication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Doctor and configuration check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Bounded first conversation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README and installation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063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1 · 35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900" b="1" i="0">
                <a:solidFill>
                  <a:srgbClr val="0D202D"/>
                </a:solidFill>
                <a:latin typeface="Aptos"/>
              </a:rPr>
              <a:t>Install Hermes Agent and Run a Safe First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Install Hermes through the official path, complete provider setup, verify the runtime and run a bounded read-only task.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An installation verification record with version, doctor result, provider route, session evidence and cleanup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CLI · provider · local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064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1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Hermes starts, diagnostics identify a configured provider, the first response uses only fictional evidence, and installation-verification.md is complete.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065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T3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Hermes workspace ownership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Provider, toolset and profile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Conversation and tool traces for retrieval.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Curated cross-session knowledge.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Skills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Reusable procedural instructions and assets.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file and configuration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066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T3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Context and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Context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Available now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Project rules and task files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Tool results and session tail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May be compressed as the session grows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Memory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Selected for later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Preferences and durable facts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Curated rather than full transcript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Must avoid secrets and transient noise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context files and memory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067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T3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Toolsets are capability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Read, write and patch within allowed roots.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Terminal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Run commands in a selected backend.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Web and 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Retrieve changing evidence and operate pages.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Delegation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Spawn isolated specialist contexts.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toolsets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068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T3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Tool call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Model selects typed tool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Harness validates schema and policy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Approval gate evaluates impact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Backend executes or blocks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Result returns as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tools runtime and 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069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3 · 40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Demonstrate Tools and an MCP Design Boundary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Use file and terminal tools for a grounded calculation, then design a least-privilege MCP connection without live credentials.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 calculated service analysis, tool trace, MCP trust register and failure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file · terminal · MCP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070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3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Independent calculations match the reported metrics, every claim points to the mock file, and the MCP design exposes only necessary capabilities.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071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T3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Built-in tools and MCP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Built-in tool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Ships with Hermes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Known runtime semantics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Platform availability checks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Updated with Hermes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MCP tool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External server boundary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Server-defined schema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OAuth or secret scope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Trust and filtering need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MCP and tools documentation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072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T3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 useful skill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When the procedure should 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What the skill may read or change.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Reusable steps, templates and scripts.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Evidence and stop conditions.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skills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073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T3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Skill improvement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Run a complex task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Capture what worked and failed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Write or revise the skill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Test on a new case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Retain only proven guidance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self-improving skills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074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T3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Memory quality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Durable information that changes future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Attributable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Source and date are known.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Minimal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No secret, noise or redundant transcript.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Correctable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Review and update when evidence changes.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memory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075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4 · 40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Demonstrate Memory Skills and Context Reuse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Separate durable business memory from reusable procedural skills and verify both on a new fictional 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 memory decision log, a review-ready campaign skill, a second-case test and a correction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memory · skills · context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076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4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The second case demonstrates durable preference reuse, procedural skill reuse, correction and zero secret or transient-noise retention.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077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T3 · TECHNICAL TRACE · VISUAL EXPLAINER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Hermes CLI as an operating cockpit</a:t>
            </a:r>
          </a:p>
        </p:txBody>
      </p:sp>
      <p:pic>
        <p:nvPicPr>
          <p:cNvPr id="8" name="Picture 7" descr="hermes-cli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9597"/>
            <a:ext cx="6492240" cy="35166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627632"/>
            <a:ext cx="4023360" cy="448056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965960"/>
            <a:ext cx="342900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The CLI exposes conversation, tool evidence, approvals, usage and subagent state in one operational view.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4290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456432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401568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Interruptible work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087368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114800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059936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Visible tool results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745736"/>
            <a:ext cx="310896" cy="310896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773168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718304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Session continuity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CLI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078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T3 · TECHNICAL TRACE · NATIVE POWERPOINT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Fixed context consumes the prompt budget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71907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874519"/>
            <a:ext cx="3493008" cy="35204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88920"/>
            <a:ext cx="283464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Unused tool schemas and verbose instructions reduce the space available for task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3659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B8C0CA"/>
                </a:solidFill>
                <a:latin typeface="Aptos"/>
              </a:rPr>
              <a:t>Illustrative teaching index — use the relationship, not the values, to guide design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Illustrative prompt-budget model; Hermes prompt-size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079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T3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Grounded business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Receive business question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Load project context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Retrieve approved evidence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Use calculation or system tool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Return cited answer and uncertainty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context, web and file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080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T3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Session resume and fresh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Resume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Preserves working history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Good for interrupted work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May carry stale assumptions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Higher context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Fresh session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Clean task boundary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Good for scheduled or delegated work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Needs explicit context package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Easier evaluation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session and cron docs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081</a:t>
            </a:r>
          </a:p>
        </p:txBody>
      </p: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2 · 35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Compare Prompt, Context and Harness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Turn an ambiguous request into a measurable task contract and a minimal context package for an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 prompt-context comparison, AGENTS.md context file, acceptance rubric and a redacted test transcript.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· context files · session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082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2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The improved run names its evidence, respects the no-send rule and passes every acceptance item; the learner distinguishes prompt wording from context and runtime authority.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083</a:t>
            </a:r>
          </a:p>
        </p:txBody>
      </p:sp>
    </p:spTree>
  </p:cSld>
  <p:transition spd="fast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ulti-agent-marketing-v1.pn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DOMAIN 04  ·  14 TECHNICAL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76072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500" b="1" i="0">
                <a:solidFill>
                  <a:srgbClr val="FFFFFF"/>
                </a:solidFill>
                <a:latin typeface="Aptos"/>
              </a:rPr>
              <a:t>Multi-Agent Campaign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00400"/>
            <a:ext cx="54406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DELEGATE · CHALLENGE · SYNTHESISE · 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114800"/>
            <a:ext cx="525780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50" b="1" i="0">
                <a:solidFill>
                  <a:srgbClr val="D4E0E5"/>
                </a:solidFill>
                <a:latin typeface="Aptos"/>
              </a:rPr>
              <a:t>Design specialist agents for marketing and video campaigns with isolated context, structured handoffs and a human-controlled release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50992"/>
            <a:ext cx="5120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00B9A7"/>
                </a:solidFill>
                <a:latin typeface="Aptos"/>
              </a:rPr>
              <a:t>WEIGHT 20%  ·  LABS 5 / 7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084</a:t>
            </a:r>
          </a:p>
        </p:txBody>
      </p:sp>
    </p:spTree>
  </p:cSld>
  <p:transition spd="fast">
    <p:push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T4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Delegation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Coordinator defines bounded tasks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Specialists work in isolated contexts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Each returns evidence and artifacts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Reviewer challenges gaps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Human approves 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delegation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085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5 · 45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Orchestrate Specialist Subagents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Split one campaign problem into isolated research, audience and risk tasks with structured evidence handoffs.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 task graph, three specialist handoffs, conflict-resolution note and human decision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delegation · profiles · Kanban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086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5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Three role-bounded handoffs exist, conflicts remain visible, the synthesis waits for dependencies and the human decision record controls release.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087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T4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Specialist role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One clear output and audience.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Approved sources and context package.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Minimum capabilities for the role.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Handoff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Schema, evidence and failure status.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delegation and Kanban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088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T4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Parallel and sequential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Parallel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Independent research strands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Lower elapsed time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Needs normalised handoffs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Conflicts resolved later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Sequential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One output feeds the next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Clear dependency chain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Longer elapsed time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Earlier errors can propagate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delegation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089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T4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Marketing campaign agent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Research agent gathers evidence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Audience agent builds segments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Strategy agent selects proposition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Creative agents draft variants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Compliance reviewer and human 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campaign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090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T4 · TECHNICAL TRACE · VISUAL EXPLAINER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Multi-agent marketing command center</a:t>
            </a:r>
          </a:p>
        </p:txBody>
      </p:sp>
      <p:pic>
        <p:nvPicPr>
          <p:cNvPr id="8" name="Picture 7" descr="multi-agent-marketing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0999"/>
            <a:ext cx="6492240" cy="36538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627632"/>
            <a:ext cx="4023360" cy="448056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965960"/>
            <a:ext cx="342900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A campaign becomes an evidence-linked pipeline, not one oversized prompt.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4290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456432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401568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Research before claims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087368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114800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059936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Specialists challenge each other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745736"/>
            <a:ext cx="310896" cy="310896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773168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718304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Publication remains human-authorised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AI-generated concept visual, 11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091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T4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Campaign handoff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Exact statement and supporting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Need, context and exclusion.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Channel, copy, dimensions and owner.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Approve, revise or reject with rationale.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marketing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092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7 · 55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900" b="1" i="0">
                <a:solidFill>
                  <a:srgbClr val="0D202D"/>
                </a:solidFill>
                <a:latin typeface="Aptos"/>
              </a:rPr>
              <a:t>Create a Marketing Campaign with Multiple AI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Coordinate research, audience, strategy, copy and review agents to produce a source-backed campaign pack that stops before publication.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 campaign brief, evidence map, three channel variants, claim review, experiment plan and human approval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delegation · web · skills ·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093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7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The campaign pack contains three differentiated channel drafts, a traceable evidence map, an experiment hypothesis, visible unresolved assumptions and human-controlled release.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094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T4 · TECHNICAL TRACE · NATIVE POWERPOINT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Illustrative variant score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71907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874519"/>
            <a:ext cx="3493008" cy="35204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88920"/>
            <a:ext cx="283464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Low risk score is desirable; the review gate balances performance with claim and brand exposure.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3659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B8C0CA"/>
                </a:solidFill>
                <a:latin typeface="Aptos"/>
              </a:rPr>
              <a:t>Illustrative teaching index — use the relationship, not the values, to guide design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Illustrative campaign QA rubric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095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T4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Video campaign agent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Brief and rights intake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Research and script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Storyboard and shot design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Generation and edit plan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QC, consent and human 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video campaign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096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T4 · TECHNICAL TRACE · VISUAL EXPLAINER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Multi-agent video production studio</a:t>
            </a:r>
          </a:p>
        </p:txBody>
      </p:sp>
      <p:pic>
        <p:nvPicPr>
          <p:cNvPr id="8" name="Picture 7" descr="multi-agent-vide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0999"/>
            <a:ext cx="6492240" cy="36538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627632"/>
            <a:ext cx="4023360" cy="448056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965960"/>
            <a:ext cx="342900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Video agents coordinate creative artifacts, but consent, rights and release remain human decisions.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4290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456432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401568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Traceable asset manifest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4087368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114800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059936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Separate factual and visual QA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4745736"/>
            <a:ext cx="310896" cy="310896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773168"/>
            <a:ext cx="310896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718304"/>
            <a:ext cx="28346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30" b="0" i="0">
                <a:solidFill>
                  <a:srgbClr val="455B68"/>
                </a:solidFill>
                <a:latin typeface="Aptos"/>
              </a:rPr>
              <a:t>No unapproved likeness or music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AI-generated concept visual, 11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097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T4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Video production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Storyboard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Scene objective, framing and continuity.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Asset register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Source, licence, consent and generation prompt.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QC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Audio, captions, factual claims and brand checks.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Release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Approved version, owner, date and destination.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video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098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T4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Generated preview and approved deliverable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Preview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Explores concept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Watermarked or internal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May use placeholders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Not externally published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Deliverable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Rights and consent cleared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Claims verified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Accessibility checked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Named human 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media governance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099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T4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Conflict resolution between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Detect contradictory handoffs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Return both claims and evidence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Reviewer evaluates source quality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Coordinator revises synthesis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Human resolves consequential ambiguity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The Agentic AI Revolution; Hermes delegation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100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T4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Orchestration failure modes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Context leak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Specialist receives unrelated sensitive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Silent 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Downstream work starts before required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Consensus illusion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Several agents repeat the same unsupported claim.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Release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Draft moves outward without final approval.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security and course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101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T4 · TECHNICAL TRACE · NATIVE POWERPOINT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Coordination cost grows with handoffs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71907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874519"/>
            <a:ext cx="3493008" cy="35204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88920"/>
            <a:ext cx="283464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Add specialists only when role separation or parallelism creates more value than coordination overhead.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3659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B8C0CA"/>
                </a:solidFill>
                <a:latin typeface="Aptos"/>
              </a:rPr>
              <a:t>Illustrative teaching index — use the relationship, not the values, to guide design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Illustrative orchestration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102</a:t>
            </a:r>
          </a:p>
        </p:txBody>
      </p:sp>
    </p:spTree>
  </p:cSld>
  <p:transition spd="fast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8 · 55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Create a Governed Multi-Agent Video Campaign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Produce a review-ready video campaign package with specialist agents, rights and consent controls, security tests and a human release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 script, storyboard, asset and rights register, generation plan, QC report, security matrix and final human release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delegation · image/video tools ·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103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8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The production package is complete and traceable, no unapproved asset or claim is used, negative controls block unsafe actions, and only a named human can approve final release.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104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ulti-agent-video-v1.pn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DOMAIN 05  ·  14 TECHNICAL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76072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500" b="1" i="0">
                <a:solidFill>
                  <a:srgbClr val="FFFFFF"/>
                </a:solidFill>
                <a:latin typeface="Aptos"/>
              </a:rPr>
              <a:t>Security Governance and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00400"/>
            <a:ext cx="54406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THREATS · CONTROLS · OVERSIGHT ·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114800"/>
            <a:ext cx="525780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50" b="1" i="0">
                <a:solidFill>
                  <a:srgbClr val="D4E0E5"/>
                </a:solidFill>
                <a:latin typeface="Aptos"/>
              </a:rPr>
              <a:t>Apply security, data governance, human oversight and continuous evaluation to turn a promising agent workflow into an accountable business process.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50992"/>
            <a:ext cx="5120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00B9A7"/>
                </a:solidFill>
                <a:latin typeface="Aptos"/>
              </a:rPr>
              <a:t>WEIGHT 20%  ·  LABS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105</a:t>
            </a:r>
          </a:p>
        </p:txBody>
      </p:sp>
    </p:spTree>
  </p:cSld>
  <p:transition spd="fast">
    <p:push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T5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Agent attack surface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Prompt injection and conflicting authority.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Sensitive input, poisoned retrieval and leakage.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Over-privileged actions and unsafe arguments.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Supply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Untrusted skills, plugins and MCP servers.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security; Generative AI for Business Innovation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106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T5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Security enforcement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Authenticate sender and profile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Classify data and task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Filter capabilities and paths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Require approval for impact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Execute in isolation and record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security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107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T5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Model refusal and runtime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Model refusal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Probabilistic behaviour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May vary by provider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Useful defence in depth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Not proof an action was blocked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Runtime control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Deterministic policy check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Observable allow or deny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Applies before execution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Produces auditable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security FAQ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108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T5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Least-privilege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One profile and sender route per operating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Only approved files, fields and retention.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Capability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Only required tools and endpoints.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Temporary approvals and credentials expire.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security and managed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109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T5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Prompt-injection defence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Treat external content as data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Separate authority from retrieved text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Restrict tools before browsing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Validate target and arguments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Require approval for external effect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110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T5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Data governance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Purpose, lawful basis and minimum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Approved provider, tools and locations.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Persist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Session, memory, logs and access owners.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Retention trigger and verifiable removal.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Generative AI for Business Innovation; PDPA-aware course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111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T5 · TECHNICAL TRACE · NATIVE POWERPOINT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Residual risk after layered controls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71907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874519"/>
            <a:ext cx="3493008" cy="35204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88920"/>
            <a:ext cx="283464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Layered controls reduce exposure; monitoring is still required because no layer removes all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3659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B8C0CA"/>
                </a:solidFill>
                <a:latin typeface="Aptos"/>
              </a:rPr>
              <a:t>Illustrative teaching index — use the relationship, not the values, to guide design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Illustrative defence-in-depth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112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T5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Human oversight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Requester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Defines need and permitted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Configures agent and watches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Reviewer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Challenges evidence and output quality.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Accountable 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Accepts residual risk and release decision.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The Agentic AI Revolution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113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T5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AI incident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Stop execution and external delivery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Preserve redacted evidence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Classify owning boundary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Apply approved minimum repair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Retest and record lessons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Hermes security and course incident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114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T5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Monitor outputs and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Output metrics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Factual accuracy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Format completeness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Tool success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Latency and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Outcome metrics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Cycle-time change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Customer or user effect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Review burden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Risk events and reversals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Untangling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115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T5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Implementation workstreams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Future-state design and exception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People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Roles, training and change adoption.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Integration, evaluation and support.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Risk acceptance, audit and review cadence.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Official LO5; reference ebooks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116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TRACE · T5 · TECHNICAL TRACE · PROCESS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Pilot-to-scale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2339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233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Run bounded pilot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724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755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1529" y="2532888"/>
            <a:ext cx="658368" cy="65836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1529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Measure value and failure modes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6436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6748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532888"/>
            <a:ext cx="658368" cy="65836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Close control gaps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562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593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9910" y="2532888"/>
            <a:ext cx="658368" cy="65836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991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Approve operating model</a:t>
            </a:r>
          </a:p>
        </p:txBody>
      </p:sp>
      <p:sp>
        <p:nvSpPr>
          <p:cNvPr id="27" name="Chevron 26"/>
          <p:cNvSpPr/>
          <p:nvPr/>
        </p:nvSpPr>
        <p:spPr>
          <a:xfrm>
            <a:off x="9284817" y="3474720"/>
            <a:ext cx="274320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5129" y="2148840"/>
            <a:ext cx="2026310" cy="32461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100" y="2532888"/>
            <a:ext cx="658368" cy="65836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9100" y="2670047"/>
            <a:ext cx="65836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1" y="3520440"/>
            <a:ext cx="169712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0D202D"/>
                </a:solidFill>
                <a:latin typeface="Aptos"/>
              </a:rPr>
              <a:t>Scale gradually with rollback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455B68"/>
                </a:solidFill>
                <a:latin typeface="Aptos"/>
              </a:rPr>
              <a:t>A useful agent does not stop at a plausible answer; it closes the loop with observable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Generative AI for Business Innovation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117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TRACE · T5 · TECHNICAL TRACE · DECISION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Human body and agent harness under stress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91640"/>
            <a:ext cx="5230368" cy="10972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F0A924"/>
                </a:solidFill>
                <a:latin typeface="Aptos"/>
              </a:rPr>
              <a:t>Human recovery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Pause and seek help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47472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Use judgement and values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20624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Learn from feedback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37760"/>
            <a:ext cx="310896" cy="310896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Remain accountable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230368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1691640"/>
            <a:ext cx="5230368" cy="10972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2996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B9A7"/>
                </a:solidFill>
                <a:latin typeface="Aptos"/>
              </a:rPr>
              <a:t>Agent recovery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75234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72491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Stop condition and checkpoint</a:t>
            </a:r>
          </a:p>
        </p:txBody>
      </p:sp>
      <p:sp>
        <p:nvSpPr>
          <p:cNvPr id="29" name="Oval 28"/>
          <p:cNvSpPr/>
          <p:nvPr/>
        </p:nvSpPr>
        <p:spPr>
          <a:xfrm>
            <a:off x="6547104" y="347472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48386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5643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Ask for clarification or approval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20624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18795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Restore known state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4937760"/>
            <a:ext cx="310896" cy="310896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946904"/>
            <a:ext cx="310896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919472"/>
            <a:ext cx="409651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0" i="0">
                <a:solidFill>
                  <a:srgbClr val="0D202D"/>
                </a:solidFill>
                <a:latin typeface="Aptos"/>
              </a:rPr>
              <a:t>Return evidence to accountable human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Course human-agent comparison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118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TRACE · T5 · TECHNICAL TRACE · 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Release gate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64208"/>
            <a:ext cx="82296" cy="2089404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20240"/>
            <a:ext cx="530352" cy="530352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Correct course, profile, owner and destination.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64208"/>
            <a:ext cx="82296" cy="2089404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1920240"/>
            <a:ext cx="530352" cy="530352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19019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24328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Current artifact version and acceptance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09644"/>
            <a:ext cx="82296" cy="2089404"/>
          </a:xfrm>
          <a:prstGeom prst="rect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65676"/>
            <a:ext cx="530352" cy="530352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Privacy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No secrets, personal data or trainer-only content.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009644"/>
            <a:ext cx="5257800" cy="2089404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7064" y="4009644"/>
            <a:ext cx="82296" cy="2089404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265676"/>
            <a:ext cx="530352" cy="530352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57116"/>
            <a:ext cx="5303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24738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D202D"/>
                </a:solidFill>
                <a:latin typeface="Aptos"/>
              </a:rPr>
              <a:t>Preservation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69764"/>
            <a:ext cx="4745736" cy="918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 i="0">
                <a:solidFill>
                  <a:srgbClr val="455B68"/>
                </a:solidFill>
                <a:latin typeface="Aptos"/>
              </a:rPr>
              <a:t>Unrelated records and systems remain unchanged.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Tertiary publication and agent governance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119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00B9A7"/>
                </a:solidFill>
                <a:latin typeface="Aptos"/>
              </a:rPr>
              <a:t>LAB 8 · 55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Create a Governed Multi-Agent Video Campaign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72084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080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D202D"/>
                </a:solidFill>
                <a:latin typeface="Aptos"/>
              </a:rPr>
              <a:t>Produce a review-ready video campaign package with specialist agents, rights and consent controls, security tests and a human release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0A924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6080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455B68"/>
                </a:solidFill>
                <a:latin typeface="Aptos"/>
              </a:rPr>
              <a:t>A script, storyboard, asset and rights register, generation plan, QC report, security matrix and final human release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730752" cy="4434840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29260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Hermes delegation · image/video tools ·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B9A7"/>
                </a:solidFill>
                <a:latin typeface="Aptos"/>
              </a:rPr>
              <a:t>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24528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CBD4"/>
                </a:solidFill>
                <a:latin typeface="Aptos"/>
              </a:rPr>
              <a:t>Detailed step-by-step instructions are in the Learner Guide and this lab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6464808"/>
            <a:ext cx="672084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80" b="0" i="0">
                <a:solidFill>
                  <a:srgbClr val="C8D8DD"/>
                </a:solidFill>
                <a:latin typeface="Aptos"/>
              </a:rPr>
              <a:t>TECHNICAL ANCHOR  ·  Learner Guide · Lab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120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LAB 8 · TEST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Evidence and Acceptance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194560"/>
            <a:ext cx="548640" cy="548640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0A924"/>
                </a:solidFill>
                <a:latin typeface="Aptos"/>
              </a:rPr>
              <a:t>Working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The production package is complete and traceable, no unapproved asset or claim is used, negative controls block unsafe actions, and only a named human can approve final release.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91640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2194560"/>
            <a:ext cx="548640" cy="548640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1343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9659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B9A7"/>
                </a:solidFill>
                <a:latin typeface="Aptos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441448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Screenshots, generated files and completed checklist contain no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251959"/>
            <a:ext cx="548640" cy="548640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AB8F3"/>
                </a:solidFill>
                <a:latin typeface="Aptos"/>
              </a:rPr>
              <a:t>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Explain one failure, one control and one improvement.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49039"/>
            <a:ext cx="5248656" cy="1783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4251959"/>
            <a:ext cx="548640" cy="548640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370831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023359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8A6EFF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4498847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20" b="0" i="0">
                <a:solidFill>
                  <a:srgbClr val="0D202D"/>
                </a:solidFill>
                <a:latin typeface="Aptos"/>
              </a:rPr>
              <a:t>Another learner can understand what was built and how success was verified.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121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F0A924"/>
                </a:solidFill>
                <a:latin typeface="Aptos"/>
              </a:rPr>
              <a:t>COURSE SUMMARY · BUSINESS TO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AI-Agent Innovation Proof Chain</a:t>
            </a:r>
          </a:p>
        </p:txBody>
      </p:sp>
      <p:sp>
        <p:nvSpPr>
          <p:cNvPr id="8" name="Oval 7"/>
          <p:cNvSpPr/>
          <p:nvPr/>
        </p:nvSpPr>
        <p:spPr>
          <a:xfrm>
            <a:off x="1243584" y="1920240"/>
            <a:ext cx="749808" cy="74980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112264"/>
            <a:ext cx="74980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9659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D202D"/>
                </a:solidFill>
                <a:latin typeface="Aptos"/>
              </a:rPr>
              <a:t>Business outcome</a:t>
            </a:r>
          </a:p>
        </p:txBody>
      </p:sp>
      <p:sp>
        <p:nvSpPr>
          <p:cNvPr id="11" name="Oval 10"/>
          <p:cNvSpPr/>
          <p:nvPr/>
        </p:nvSpPr>
        <p:spPr>
          <a:xfrm>
            <a:off x="3529584" y="1920240"/>
            <a:ext cx="749808" cy="74980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112264"/>
            <a:ext cx="74980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63240"/>
            <a:ext cx="19659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D202D"/>
                </a:solidFill>
                <a:latin typeface="Aptos"/>
              </a:rPr>
              <a:t>Model + context</a:t>
            </a:r>
          </a:p>
        </p:txBody>
      </p:sp>
      <p:sp>
        <p:nvSpPr>
          <p:cNvPr id="14" name="Oval 13"/>
          <p:cNvSpPr/>
          <p:nvPr/>
        </p:nvSpPr>
        <p:spPr>
          <a:xfrm>
            <a:off x="5815584" y="1920240"/>
            <a:ext cx="749808" cy="74980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112264"/>
            <a:ext cx="74980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063240"/>
            <a:ext cx="19659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D202D"/>
                </a:solidFill>
                <a:latin typeface="Aptos"/>
              </a:rPr>
              <a:t>Harness controls</a:t>
            </a:r>
          </a:p>
        </p:txBody>
      </p:sp>
      <p:sp>
        <p:nvSpPr>
          <p:cNvPr id="17" name="Oval 16"/>
          <p:cNvSpPr/>
          <p:nvPr/>
        </p:nvSpPr>
        <p:spPr>
          <a:xfrm>
            <a:off x="8101583" y="1920240"/>
            <a:ext cx="749808" cy="74980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3" y="2112264"/>
            <a:ext cx="74980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063240"/>
            <a:ext cx="19659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D202D"/>
                </a:solidFill>
                <a:latin typeface="Aptos"/>
              </a:rPr>
              <a:t>Agent action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387584" y="1920240"/>
            <a:ext cx="749808" cy="74980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87584" y="2112264"/>
            <a:ext cx="74980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063240"/>
            <a:ext cx="19659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D202D"/>
                </a:solidFill>
                <a:latin typeface="Aptos"/>
              </a:rPr>
              <a:t>Verified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634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 i="0">
                <a:solidFill>
                  <a:srgbClr val="455B68"/>
                </a:solidFill>
                <a:latin typeface="Aptos"/>
              </a:rPr>
              <a:t>Innovation is complete only when the intended business outcome is supported by observable evidence, acceptable residual risk and named human approval.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122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58368"/>
            <a:ext cx="56692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Aptos"/>
              </a:rPr>
              <a:t>FINAL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"/>
              </a:rPr>
              <a:t>Demonstrate business judgement and knowledge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194560"/>
            <a:ext cx="5212080" cy="2331720"/>
          </a:xfrm>
          <a:prstGeom prst="roundRect">
            <a:avLst/>
          </a:prstGeom>
          <a:solidFill>
            <a:srgbClr val="162530"/>
          </a:solidFill>
          <a:ln w="12700">
            <a:solidFill>
              <a:srgbClr val="00B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2578608"/>
            <a:ext cx="786384" cy="786384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788920"/>
            <a:ext cx="786384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552" y="2505456"/>
            <a:ext cx="3337560" cy="4023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3108960"/>
            <a:ext cx="19202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0B9A7"/>
                </a:solidFill>
                <a:latin typeface="Aptos"/>
              </a:rPr>
              <a:t>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0552" y="3694176"/>
            <a:ext cx="324612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D2D8E0"/>
                </a:solidFill>
                <a:latin typeface="Aptos"/>
              </a:rPr>
              <a:t>Five questions · A1–A5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2194560"/>
            <a:ext cx="5212080" cy="2331720"/>
          </a:xfrm>
          <a:prstGeom prst="roundRect">
            <a:avLst/>
          </a:prstGeom>
          <a:solidFill>
            <a:srgbClr val="162530"/>
          </a:solidFill>
          <a:ln w="12700">
            <a:solidFill>
              <a:srgbClr val="8A6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0256" y="2578608"/>
            <a:ext cx="786384" cy="786384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2788920"/>
            <a:ext cx="786384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0104" y="2505456"/>
            <a:ext cx="3337560" cy="4023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Oral Questioning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3108960"/>
            <a:ext cx="19202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8A6EFF"/>
                </a:solidFill>
                <a:latin typeface="Aptos"/>
              </a:rPr>
              <a:t>30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3694176"/>
            <a:ext cx="324612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D2D8E0"/>
                </a:solidFill>
                <a:latin typeface="Aptos"/>
              </a:rPr>
              <a:t>Five questions · K1–K4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38928"/>
            <a:ext cx="1005840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Aptos"/>
              </a:rPr>
              <a:t>Use the current assessor-issued papers. Do not share candidate responses or answer keys.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123</a:t>
            </a:r>
          </a:p>
        </p:txBody>
      </p:sp>
    </p:spTree>
  </p:cSld>
  <p:transition spd="fast">
    <p:push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48840" cy="64008"/>
          </a:xfrm>
          <a:prstGeom prst="rect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978408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8A6EFF"/>
                </a:solidFill>
                <a:latin typeface="Aptos"/>
              </a:rPr>
              <a:t>WA → ORAL QUESTIONING → SIGN-OFF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25328" y="420624"/>
            <a:ext cx="859536" cy="256032"/>
          </a:xfrm>
          <a:prstGeom prst="round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5328" y="475488"/>
            <a:ext cx="859536" cy="128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TRACE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768096"/>
            <a:ext cx="1074420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100" b="1" i="0">
                <a:solidFill>
                  <a:srgbClr val="0D202D"/>
                </a:solidFill>
                <a:latin typeface="Aptos"/>
              </a:rPr>
              <a:t>Assessment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2423160" cy="2926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331720"/>
            <a:ext cx="749808" cy="749808"/>
          </a:xfrm>
          <a:prstGeom prst="ellipse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514600"/>
            <a:ext cx="74980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01568"/>
            <a:ext cx="196596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D202D"/>
                </a:solidFill>
                <a:latin typeface="Aptos"/>
              </a:rPr>
              <a:t>Written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133087"/>
            <a:ext cx="1965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0" i="0">
                <a:solidFill>
                  <a:srgbClr val="455B68"/>
                </a:solidFill>
                <a:latin typeface="Aptos"/>
              </a:rPr>
              <a:t>Ability A1–A5</a:t>
            </a:r>
          </a:p>
        </p:txBody>
      </p:sp>
      <p:sp>
        <p:nvSpPr>
          <p:cNvPr id="13" name="Chevron 12"/>
          <p:cNvSpPr/>
          <p:nvPr/>
        </p:nvSpPr>
        <p:spPr>
          <a:xfrm>
            <a:off x="3063240" y="3154680"/>
            <a:ext cx="429768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2011680"/>
            <a:ext cx="2423160" cy="2926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6824" y="2331720"/>
            <a:ext cx="749808" cy="749808"/>
          </a:xfrm>
          <a:prstGeom prst="ellipse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2514600"/>
            <a:ext cx="74980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401568"/>
            <a:ext cx="196596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D202D"/>
                </a:solidFill>
                <a:latin typeface="Aptos"/>
              </a:rPr>
              <a:t>Oral Questioning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133087"/>
            <a:ext cx="1965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0" i="0">
                <a:solidFill>
                  <a:srgbClr val="455B68"/>
                </a:solidFill>
                <a:latin typeface="Aptos"/>
              </a:rPr>
              <a:t>Knowledge K1–K4</a:t>
            </a:r>
          </a:p>
        </p:txBody>
      </p:sp>
      <p:sp>
        <p:nvSpPr>
          <p:cNvPr id="19" name="Chevron 18"/>
          <p:cNvSpPr/>
          <p:nvPr/>
        </p:nvSpPr>
        <p:spPr>
          <a:xfrm>
            <a:off x="5879592" y="3154680"/>
            <a:ext cx="429768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91072" y="2011680"/>
            <a:ext cx="2423160" cy="2926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3176" y="2331720"/>
            <a:ext cx="749808" cy="749808"/>
          </a:xfrm>
          <a:prstGeom prst="ellipse">
            <a:avLst/>
          </a:prstGeom>
          <a:solidFill>
            <a:srgbClr val="2AB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3176" y="2514600"/>
            <a:ext cx="74980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401568"/>
            <a:ext cx="196596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D202D"/>
                </a:solidFill>
                <a:latin typeface="Aptos"/>
              </a:rPr>
              <a:t>Assessor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133087"/>
            <a:ext cx="1965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0" i="0">
                <a:solidFill>
                  <a:srgbClr val="455B68"/>
                </a:solidFill>
                <a:latin typeface="Aptos"/>
              </a:rPr>
              <a:t>Recorded evidence</a:t>
            </a:r>
          </a:p>
        </p:txBody>
      </p:sp>
      <p:sp>
        <p:nvSpPr>
          <p:cNvPr id="25" name="Chevron 24"/>
          <p:cNvSpPr/>
          <p:nvPr/>
        </p:nvSpPr>
        <p:spPr>
          <a:xfrm>
            <a:off x="8695944" y="3154680"/>
            <a:ext cx="429768" cy="566928"/>
          </a:xfrm>
          <a:prstGeom prst="chevron">
            <a:avLst/>
          </a:prstGeom>
          <a:solidFill>
            <a:srgbClr val="F0A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07424" y="2011680"/>
            <a:ext cx="2423160" cy="29260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C8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39528" y="2331720"/>
            <a:ext cx="749808" cy="749808"/>
          </a:xfrm>
          <a:prstGeom prst="ellipse">
            <a:avLst/>
          </a:prstGeom>
          <a:solidFill>
            <a:srgbClr val="8A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9528" y="2514600"/>
            <a:ext cx="74980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401568"/>
            <a:ext cx="196596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0D202D"/>
                </a:solidFill>
                <a:latin typeface="Aptos"/>
              </a:rPr>
              <a:t>Outcome &amp; sign-off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6024" y="4133087"/>
            <a:ext cx="1965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0" i="0">
                <a:solidFill>
                  <a:srgbClr val="455B68"/>
                </a:solidFill>
                <a:latin typeface="Aptos"/>
              </a:rPr>
              <a:t>C / NYC and 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345936"/>
            <a:ext cx="1965960" cy="45720"/>
          </a:xfrm>
          <a:prstGeom prst="rect">
            <a:avLst/>
          </a:prstGeom>
          <a:solidFill>
            <a:srgbClr val="00B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C8D8DD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124</a:t>
            </a:r>
          </a:p>
        </p:txBody>
      </p:sp>
    </p:spTree>
  </p:cSld>
  <p:transition spd="fast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Aptos"/>
              </a:rPr>
              <a:t>TRAQOM · ASSESSMENT ATTENDANCE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72667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"/>
              </a:rPr>
              <a:t>Complete the final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78638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4CBD4"/>
                </a:solidFill>
                <a:latin typeface="Aptos"/>
              </a:rPr>
              <a:t>The trainer will display the live TRAQOM assessment-attendance QR code. Scan that code, submit the record, then confirm receipt with your assessor.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1572768"/>
            <a:ext cx="2331720" cy="1965960"/>
          </a:xfrm>
          <a:prstGeom prst="roundRect">
            <a:avLst/>
          </a:prstGeom>
          <a:solidFill>
            <a:srgbClr val="162530"/>
          </a:solidFill>
          <a:ln w="12700">
            <a:solidFill>
              <a:srgbClr val="00B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5984" y="1975104"/>
            <a:ext cx="1856231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900" b="1" i="0">
                <a:solidFill>
                  <a:srgbClr val="00B9A7"/>
                </a:solidFill>
                <a:latin typeface="Aptos"/>
              </a:rPr>
              <a:t>LIVE QR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5984" y="2542032"/>
            <a:ext cx="1856231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  <a:latin typeface="Aptos"/>
              </a:rPr>
              <a:t>TRAINER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5984" y="2980944"/>
            <a:ext cx="1856231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50" b="0" i="0">
                <a:solidFill>
                  <a:srgbClr val="C4CBD4"/>
                </a:solidFill>
                <a:latin typeface="Aptos"/>
              </a:rPr>
              <a:t>Do not scan this placeholder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125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FFD166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ptos"/>
              </a:rPr>
              <a:t>Build agents that earn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966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700" b="0" i="0">
                <a:solidFill>
                  <a:srgbClr val="D2D8E0"/>
                </a:solidFill>
                <a:latin typeface="Aptos"/>
              </a:rPr>
              <a:t>Clear outcome · minimum authority · grounded context · observable action · human accountability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83480"/>
            <a:ext cx="9966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  <a:latin typeface="Aptos"/>
              </a:rPr>
              <a:t>https://www.tertiarycourses.com.sg/wsq-business-innovation-with-ai-agents.html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464808"/>
            <a:ext cx="4389120" cy="17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19" b="1" i="0">
                <a:solidFill>
                  <a:srgbClr val="AFC2CA"/>
                </a:solidFill>
                <a:latin typeface="Aptos"/>
              </a:rPr>
              <a:t>BUSINESS INNOVATION  ·  TGS-2020503395  ·  v23.0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50" b="1" i="0">
                <a:solidFill>
                  <a:srgbClr val="FFD166"/>
                </a:solidFill>
                <a:latin typeface="Aptos"/>
              </a:rPr>
              <a:t>126</a:t>
            </a:r>
          </a:p>
        </p:txBody>
      </p:sp>
    </p:spTree>
  </p:cSld>
  <p:transition spd="fast">
    <p:pus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